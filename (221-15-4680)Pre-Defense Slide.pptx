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9" r:id="rId1"/>
  </p:sldMasterIdLst>
  <p:notesMasterIdLst>
    <p:notesMasterId r:id="rId28"/>
  </p:notesMasterIdLst>
  <p:sldIdLst>
    <p:sldId id="256" r:id="rId2"/>
    <p:sldId id="264" r:id="rId3"/>
    <p:sldId id="280" r:id="rId4"/>
    <p:sldId id="293" r:id="rId5"/>
    <p:sldId id="296" r:id="rId6"/>
    <p:sldId id="294" r:id="rId7"/>
    <p:sldId id="322" r:id="rId8"/>
    <p:sldId id="302" r:id="rId9"/>
    <p:sldId id="301" r:id="rId10"/>
    <p:sldId id="303" r:id="rId11"/>
    <p:sldId id="306" r:id="rId12"/>
    <p:sldId id="298" r:id="rId13"/>
    <p:sldId id="310" r:id="rId14"/>
    <p:sldId id="313" r:id="rId15"/>
    <p:sldId id="317" r:id="rId16"/>
    <p:sldId id="314" r:id="rId17"/>
    <p:sldId id="318" r:id="rId18"/>
    <p:sldId id="319" r:id="rId19"/>
    <p:sldId id="315" r:id="rId20"/>
    <p:sldId id="320" r:id="rId21"/>
    <p:sldId id="321" r:id="rId22"/>
    <p:sldId id="316" r:id="rId23"/>
    <p:sldId id="300" r:id="rId24"/>
    <p:sldId id="291" r:id="rId25"/>
    <p:sldId id="299" r:id="rId26"/>
    <p:sldId id="295" r:id="rId27"/>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56" autoAdjust="0"/>
    <p:restoredTop sz="94660"/>
  </p:normalViewPr>
  <p:slideViewPr>
    <p:cSldViewPr>
      <p:cViewPr>
        <p:scale>
          <a:sx n="75" d="100"/>
          <a:sy n="75" d="100"/>
        </p:scale>
        <p:origin x="931" y="120"/>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0F2D6876-F133-46D3-95E2-A34AD9BDC8CB}" type="datetimeFigureOut">
              <a:rPr lang="en-US"/>
              <a:pPr>
                <a:defRPr/>
              </a:pPr>
              <a:t>12/9/2025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1DA40400-4F5E-4E00-9BB5-F457594CE77A}" type="slidenum">
              <a:rPr lang="en-US"/>
              <a:pPr>
                <a:defRPr/>
              </a:pPr>
              <a:t>‹#›</a:t>
            </a:fld>
            <a:endParaRPr lang="en-US"/>
          </a:p>
        </p:txBody>
      </p:sp>
    </p:spTree>
    <p:extLst>
      <p:ext uri="{BB962C8B-B14F-4D97-AF65-F5344CB8AC3E}">
        <p14:creationId xmlns:p14="http://schemas.microsoft.com/office/powerpoint/2010/main" val="313356421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12/9/2025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12/9/2025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12/9/2025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12/9/2025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875161A3-B757-4210-8554-6B2250A4A5D7}" type="datetime1">
              <a:rPr lang="en-US" smtClean="0"/>
              <a:pPr>
                <a:defRPr/>
              </a:pPr>
              <a:t>12/9/2025</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875161A3-B757-4210-8554-6B2250A4A5D7}" type="datetime1">
              <a:rPr lang="en-US" smtClean="0"/>
              <a:pPr>
                <a:defRPr/>
              </a:pPr>
              <a:t>12/9/2025</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875161A3-B757-4210-8554-6B2250A4A5D7}" type="datetime1">
              <a:rPr lang="en-US" smtClean="0"/>
              <a:pPr>
                <a:defRPr/>
              </a:pPr>
              <a:t>12/9/2025</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12/9/2025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12/9/2025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12/9/2025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12/9/2025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6" name="Rectangle 5"/>
          <p:cNvSpPr/>
          <p:nvPr/>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lvl1pPr>
              <a:defRPr b="1">
                <a:solidFill>
                  <a:schemeClr val="accent1">
                    <a:lumMod val="75000"/>
                  </a:schemeClr>
                </a:solidFill>
              </a:defRPr>
            </a:lvl1pPr>
          </a:lstStyle>
          <a:p>
            <a:r>
              <a:rPr lang="en-US"/>
              <a:t>Click to edit Master title style</a:t>
            </a:r>
            <a:endParaRPr lang="en-US" dirty="0"/>
          </a:p>
        </p:txBody>
      </p:sp>
      <p:sp>
        <p:nvSpPr>
          <p:cNvPr id="9" name="Content Placeholder 8"/>
          <p:cNvSpPr>
            <a:spLocks noGrp="1"/>
          </p:cNvSpPr>
          <p:nvPr>
            <p:ph sz="quarter" idx="13"/>
          </p:nvPr>
        </p:nvSpPr>
        <p:spPr>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2"/>
          <p:cNvSpPr>
            <a:spLocks noGrp="1"/>
          </p:cNvSpPr>
          <p:nvPr>
            <p:ph type="dt" sz="half" idx="14"/>
          </p:nvPr>
        </p:nvSpPr>
        <p:spPr/>
        <p:txBody>
          <a:bodyPr/>
          <a:lstStyle>
            <a:lvl1pPr>
              <a:defRPr/>
            </a:lvl1pPr>
          </a:lstStyle>
          <a:p>
            <a:pPr>
              <a:defRPr/>
            </a:pPr>
            <a:fld id="{277AD9AE-DAF0-4070-950A-9E3660EBE497}" type="datetime1">
              <a:rPr lang="en-US" smtClean="0"/>
              <a:pPr>
                <a:defRPr/>
              </a:pPr>
              <a:t>12/9/2025</a:t>
            </a:fld>
            <a:endParaRPr lang="en-US"/>
          </a:p>
        </p:txBody>
      </p:sp>
      <p:sp>
        <p:nvSpPr>
          <p:cNvPr id="8" name="Footer Placeholder 3"/>
          <p:cNvSpPr>
            <a:spLocks noGrp="1"/>
          </p:cNvSpPr>
          <p:nvPr>
            <p:ph type="ftr" sz="quarter" idx="15"/>
          </p:nvPr>
        </p:nvSpPr>
        <p:spPr/>
        <p:txBody>
          <a:bodyPr/>
          <a:lstStyle>
            <a:lvl1pPr>
              <a:defRPr/>
            </a:lvl1pPr>
          </a:lstStyle>
          <a:p>
            <a:pPr>
              <a:defRPr/>
            </a:pPr>
            <a:endParaRPr lang="en-US"/>
          </a:p>
        </p:txBody>
      </p:sp>
      <p:sp>
        <p:nvSpPr>
          <p:cNvPr id="10" name="Slide Number Placeholder 4"/>
          <p:cNvSpPr>
            <a:spLocks noGrp="1"/>
          </p:cNvSpPr>
          <p:nvPr>
            <p:ph type="sldNum" sz="quarter" idx="16"/>
          </p:nvPr>
        </p:nvSpPr>
        <p:spPr/>
        <p:txBody>
          <a:bodyPr/>
          <a:lstStyle>
            <a:lvl1pPr>
              <a:defRPr/>
            </a:lvl1pPr>
          </a:lstStyle>
          <a:p>
            <a:pPr>
              <a:defRPr/>
            </a:pPr>
            <a:fld id="{4CD333A3-7515-47B8-9EDC-EE0892D9C861}" type="slidenum">
              <a:rPr lang="en-US" smtClean="0"/>
              <a:pPr>
                <a:defRPr/>
              </a:pPr>
              <a:t>‹#›</a:t>
            </a:fld>
            <a:endParaRPr lang="en-US"/>
          </a:p>
        </p:txBody>
      </p:sp>
      <p:pic>
        <p:nvPicPr>
          <p:cNvPr id="11" name="Picture 1"/>
          <p:cNvPicPr>
            <a:picLocks noChangeAspect="1" noChangeArrowheads="1"/>
          </p:cNvPicPr>
          <p:nvPr userDrawn="1"/>
        </p:nvPicPr>
        <p:blipFill>
          <a:blip r:embed="rId2"/>
          <a:srcRect/>
          <a:stretch>
            <a:fillRect/>
          </a:stretch>
        </p:blipFill>
        <p:spPr bwMode="auto">
          <a:xfrm>
            <a:off x="609600" y="6356351"/>
            <a:ext cx="1538817" cy="471487"/>
          </a:xfrm>
          <a:prstGeom prst="rect">
            <a:avLst/>
          </a:prstGeom>
          <a:noFill/>
          <a:ln w="9525">
            <a:noFill/>
            <a:miter lim="800000"/>
            <a:headEnd/>
            <a:tailEnd/>
          </a:ln>
        </p:spPr>
      </p:pic>
      <p:sp>
        <p:nvSpPr>
          <p:cNvPr id="12" name="Rectangle 11"/>
          <p:cNvSpPr/>
          <p:nvPr userDrawn="1"/>
        </p:nvSpPr>
        <p:spPr>
          <a:xfrm>
            <a:off x="2336801" y="6356351"/>
            <a:ext cx="9842500" cy="465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B.Sc. Pre-Defense</a:t>
            </a:r>
            <a:endParaRPr lang="en-US" b="1" dirty="0"/>
          </a:p>
        </p:txBody>
      </p:sp>
      <p:sp>
        <p:nvSpPr>
          <p:cNvPr id="13" name="Rectangle 12"/>
          <p:cNvSpPr/>
          <p:nvPr userDrawn="1"/>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Tree>
    <p:extLst>
      <p:ext uri="{BB962C8B-B14F-4D97-AF65-F5344CB8AC3E}">
        <p14:creationId xmlns:p14="http://schemas.microsoft.com/office/powerpoint/2010/main" val="1320263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5" name="Rectangle 4"/>
          <p:cNvSpPr/>
          <p:nvPr userDrawn="1"/>
        </p:nvSpPr>
        <p:spPr>
          <a:xfrm>
            <a:off x="3759200" y="0"/>
            <a:ext cx="8432800" cy="6858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B.Sc. Pre-Defense</a:t>
            </a:r>
            <a:endParaRPr lang="en-US" b="1" dirty="0"/>
          </a:p>
        </p:txBody>
      </p:sp>
      <p:pic>
        <p:nvPicPr>
          <p:cNvPr id="6" name="Picture 1"/>
          <p:cNvPicPr>
            <a:picLocks noChangeAspect="1" noChangeArrowheads="1"/>
          </p:cNvPicPr>
          <p:nvPr userDrawn="1"/>
        </p:nvPicPr>
        <p:blipFill>
          <a:blip r:embed="rId2"/>
          <a:srcRect/>
          <a:stretch>
            <a:fillRect/>
          </a:stretch>
        </p:blipFill>
        <p:spPr bwMode="auto">
          <a:xfrm>
            <a:off x="146051" y="76200"/>
            <a:ext cx="2444749" cy="685800"/>
          </a:xfrm>
          <a:prstGeom prst="rect">
            <a:avLst/>
          </a:prstGeom>
          <a:noFill/>
          <a:ln w="9525">
            <a:noFill/>
            <a:miter lim="800000"/>
            <a:headEnd/>
            <a:tailEnd/>
          </a:ln>
        </p:spPr>
      </p:pic>
      <p:sp>
        <p:nvSpPr>
          <p:cNvPr id="7" name="Rectangle 6"/>
          <p:cNvSpPr/>
          <p:nvPr userDrawn="1"/>
        </p:nvSpPr>
        <p:spPr>
          <a:xfrm>
            <a:off x="3555999" y="3271960"/>
            <a:ext cx="5080000" cy="533400"/>
          </a:xfrm>
          <a:prstGeom prst="rect">
            <a:avLst/>
          </a:prstGeom>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r>
              <a:rPr lang="en-US" sz="2400" b="1" dirty="0"/>
              <a:t>Presented by</a:t>
            </a:r>
          </a:p>
        </p:txBody>
      </p:sp>
      <p:sp>
        <p:nvSpPr>
          <p:cNvPr id="2" name="Title 1"/>
          <p:cNvSpPr>
            <a:spLocks noGrp="1"/>
          </p:cNvSpPr>
          <p:nvPr>
            <p:ph type="ctrTitle"/>
          </p:nvPr>
        </p:nvSpPr>
        <p:spPr>
          <a:xfrm>
            <a:off x="914400" y="1143000"/>
            <a:ext cx="10363200" cy="1752600"/>
          </a:xfrm>
        </p:spPr>
        <p:txBody>
          <a:bodyPr/>
          <a:lstStyle>
            <a:lvl1pPr>
              <a:defRPr b="1">
                <a:solidFill>
                  <a:schemeClr val="tx2">
                    <a:lumMod val="75000"/>
                  </a:schemeClr>
                </a:solidFill>
                <a:effectLst>
                  <a:outerShdw blurRad="38100" dist="38100" dir="2700000" algn="tl">
                    <a:srgbClr val="000000">
                      <a:alpha val="43137"/>
                    </a:srgbClr>
                  </a:outerShdw>
                </a:effectLst>
                <a:latin typeface="+mj-lt"/>
                <a:cs typeface="Times New Roman"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3102707" y="3959471"/>
            <a:ext cx="5986585" cy="2209800"/>
          </a:xfrm>
        </p:spPr>
        <p:txBody>
          <a:bodyPr>
            <a:normAutofit/>
          </a:bodyPr>
          <a:lstStyle>
            <a:lvl1pPr marL="0" indent="0" algn="ctr">
              <a:buNone/>
              <a:defRPr sz="2700">
                <a:solidFill>
                  <a:schemeClr val="accent1">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Date Placeholder 3"/>
          <p:cNvSpPr>
            <a:spLocks noGrp="1"/>
          </p:cNvSpPr>
          <p:nvPr>
            <p:ph type="dt" sz="half" idx="14"/>
          </p:nvPr>
        </p:nvSpPr>
        <p:spPr/>
        <p:txBody>
          <a:bodyPr/>
          <a:lstStyle>
            <a:lvl1pPr>
              <a:defRPr/>
            </a:lvl1pPr>
          </a:lstStyle>
          <a:p>
            <a:pPr>
              <a:defRPr/>
            </a:pPr>
            <a:fld id="{BCC254C3-6D07-4044-A98A-C7B9FCC216AA}" type="datetime1">
              <a:rPr lang="en-US"/>
              <a:pPr>
                <a:defRPr/>
              </a:pPr>
              <a:t>12/9/2025</a:t>
            </a:fld>
            <a:endParaRPr lang="en-US"/>
          </a:p>
        </p:txBody>
      </p:sp>
      <p:sp>
        <p:nvSpPr>
          <p:cNvPr id="10" name="Footer Placeholder 4"/>
          <p:cNvSpPr>
            <a:spLocks noGrp="1"/>
          </p:cNvSpPr>
          <p:nvPr>
            <p:ph type="ftr" sz="quarter" idx="15"/>
          </p:nvPr>
        </p:nvSpPr>
        <p:spPr/>
        <p:txBody>
          <a:bodyPr/>
          <a:lstStyle>
            <a:lvl1pPr>
              <a:defRPr/>
            </a:lvl1pPr>
          </a:lstStyle>
          <a:p>
            <a:pPr>
              <a:defRPr/>
            </a:pPr>
            <a:endParaRPr lang="en-US"/>
          </a:p>
        </p:txBody>
      </p:sp>
      <p:sp>
        <p:nvSpPr>
          <p:cNvPr id="11" name="Slide Number Placeholder 5"/>
          <p:cNvSpPr>
            <a:spLocks noGrp="1"/>
          </p:cNvSpPr>
          <p:nvPr>
            <p:ph type="sldNum" sz="quarter" idx="16"/>
          </p:nvPr>
        </p:nvSpPr>
        <p:spPr/>
        <p:txBody>
          <a:bodyPr/>
          <a:lstStyle>
            <a:lvl1pPr>
              <a:defRPr/>
            </a:lvl1pPr>
          </a:lstStyle>
          <a:p>
            <a:pPr>
              <a:defRPr/>
            </a:pPr>
            <a:fld id="{E62AF6E4-9F0F-4D32-8D8E-755B2E69BAD2}"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4" name="Picture 1"/>
          <p:cNvPicPr>
            <a:picLocks noChangeAspect="1" noChangeArrowheads="1"/>
          </p:cNvPicPr>
          <p:nvPr userDrawn="1"/>
        </p:nvPicPr>
        <p:blipFill>
          <a:blip r:embed="rId2"/>
          <a:srcRect/>
          <a:stretch>
            <a:fillRect/>
          </a:stretch>
        </p:blipFill>
        <p:spPr bwMode="auto">
          <a:xfrm>
            <a:off x="304801" y="5943600"/>
            <a:ext cx="1538817" cy="304800"/>
          </a:xfrm>
          <a:prstGeom prst="rect">
            <a:avLst/>
          </a:prstGeom>
          <a:noFill/>
          <a:ln w="9525">
            <a:noFill/>
            <a:miter lim="800000"/>
            <a:headEnd/>
            <a:tailEnd/>
          </a:ln>
        </p:spPr>
      </p:pic>
      <p:sp>
        <p:nvSpPr>
          <p:cNvPr id="5" name="Rectangle 4"/>
          <p:cNvSpPr/>
          <p:nvPr userDrawn="1"/>
        </p:nvSpPr>
        <p:spPr>
          <a:xfrm>
            <a:off x="2336801" y="5943600"/>
            <a:ext cx="98425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Final Year Defense</a:t>
            </a:r>
            <a:endParaRPr lang="en-US" b="1" dirty="0"/>
          </a:p>
        </p:txBody>
      </p:sp>
      <p:sp>
        <p:nvSpPr>
          <p:cNvPr id="6" name="Rectangle 5"/>
          <p:cNvSpPr/>
          <p:nvPr userDrawn="1"/>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lvl1pPr>
              <a:defRPr b="1">
                <a:solidFill>
                  <a:schemeClr val="accent1">
                    <a:lumMod val="75000"/>
                  </a:schemeClr>
                </a:solidFill>
              </a:defRPr>
            </a:lvl1pPr>
          </a:lstStyle>
          <a:p>
            <a:r>
              <a:rPr lang="en-US" dirty="0"/>
              <a:t>Click to edit Master title style</a:t>
            </a:r>
          </a:p>
        </p:txBody>
      </p:sp>
      <p:sp>
        <p:nvSpPr>
          <p:cNvPr id="9" name="Content Placeholder 8"/>
          <p:cNvSpPr>
            <a:spLocks noGrp="1"/>
          </p:cNvSpPr>
          <p:nvPr>
            <p:ph sz="quarter" idx="13"/>
          </p:nvPr>
        </p:nvSpPr>
        <p:spPr>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2"/>
          <p:cNvSpPr>
            <a:spLocks noGrp="1"/>
          </p:cNvSpPr>
          <p:nvPr>
            <p:ph type="dt" sz="half" idx="14"/>
          </p:nvPr>
        </p:nvSpPr>
        <p:spPr/>
        <p:txBody>
          <a:bodyPr/>
          <a:lstStyle>
            <a:lvl1pPr>
              <a:defRPr/>
            </a:lvl1pPr>
          </a:lstStyle>
          <a:p>
            <a:pPr>
              <a:defRPr/>
            </a:pPr>
            <a:fld id="{277AD9AE-DAF0-4070-950A-9E3660EBE497}" type="datetime1">
              <a:rPr lang="en-US"/>
              <a:pPr>
                <a:defRPr/>
              </a:pPr>
              <a:t>12/9/2025</a:t>
            </a:fld>
            <a:endParaRPr lang="en-US"/>
          </a:p>
        </p:txBody>
      </p:sp>
      <p:sp>
        <p:nvSpPr>
          <p:cNvPr id="8" name="Footer Placeholder 3"/>
          <p:cNvSpPr>
            <a:spLocks noGrp="1"/>
          </p:cNvSpPr>
          <p:nvPr>
            <p:ph type="ftr" sz="quarter" idx="15"/>
          </p:nvPr>
        </p:nvSpPr>
        <p:spPr/>
        <p:txBody>
          <a:bodyPr/>
          <a:lstStyle>
            <a:lvl1pPr>
              <a:defRPr/>
            </a:lvl1pPr>
          </a:lstStyle>
          <a:p>
            <a:pPr>
              <a:defRPr/>
            </a:pPr>
            <a:endParaRPr lang="en-US"/>
          </a:p>
        </p:txBody>
      </p:sp>
      <p:sp>
        <p:nvSpPr>
          <p:cNvPr id="10" name="Slide Number Placeholder 4"/>
          <p:cNvSpPr>
            <a:spLocks noGrp="1"/>
          </p:cNvSpPr>
          <p:nvPr>
            <p:ph type="sldNum" sz="quarter" idx="16"/>
          </p:nvPr>
        </p:nvSpPr>
        <p:spPr/>
        <p:txBody>
          <a:bodyPr/>
          <a:lstStyle>
            <a:lvl1pPr>
              <a:defRPr/>
            </a:lvl1pPr>
          </a:lstStyle>
          <a:p>
            <a:pPr>
              <a:defRPr/>
            </a:pPr>
            <a:fld id="{4CD333A3-7515-47B8-9EDC-EE0892D9C861}"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875161A3-B757-4210-8554-6B2250A4A5D7}" type="datetime1">
              <a:rPr lang="en-US" smtClean="0"/>
              <a:pPr>
                <a:defRPr/>
              </a:pPr>
              <a:t>12/9/2025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3201EAB7-4B8F-4B70-B0ED-2782ACD77B02}"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58" r:id="rId14"/>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8" Type="http://schemas.openxmlformats.org/officeDocument/2006/relationships/hyperlink" Target="https://doi.org/10.1038/s41746-024-01074-z" TargetMode="External"/><Relationship Id="rId3" Type="http://schemas.openxmlformats.org/officeDocument/2006/relationships/hyperlink" Target="https://www.ncbi.nlm.nih.gov/pmc/articles/PMC11865260" TargetMode="External"/><Relationship Id="rId7" Type="http://schemas.openxmlformats.org/officeDocument/2006/relationships/hyperlink" Target="https://www.ncbi.nlm.nih.gov/pmc/articles/PMC11897588" TargetMode="External"/><Relationship Id="rId2" Type="http://schemas.openxmlformats.org/officeDocument/2006/relationships/hyperlink" Target="https://doi.org/10.1038/s41598-024-17118" TargetMode="External"/><Relationship Id="rId1" Type="http://schemas.openxmlformats.org/officeDocument/2006/relationships/slideLayout" Target="../slideLayouts/slideLayout12.xml"/><Relationship Id="rId6" Type="http://schemas.openxmlformats.org/officeDocument/2006/relationships/hyperlink" Target="https://doi.org/10.1038/s41746-025-00445-x" TargetMode="External"/><Relationship Id="rId5" Type="http://schemas.openxmlformats.org/officeDocument/2006/relationships/hyperlink" Target="https://www.ncbi.nlm.nih.gov/pmc/articles/PMC10298658" TargetMode="External"/><Relationship Id="rId10" Type="http://schemas.openxmlformats.org/officeDocument/2006/relationships/hyperlink" Target="https://www.ncbi.nlm.nih.gov/pmc/articles/PMC9299995" TargetMode="External"/><Relationship Id="rId4" Type="http://schemas.openxmlformats.org/officeDocument/2006/relationships/hyperlink" Target="https://arxiv.org/abs/2504.07724" TargetMode="External"/><Relationship Id="rId9" Type="http://schemas.openxmlformats.org/officeDocument/2006/relationships/hyperlink" Target="https://doi.org/10.1038/s41598-025-97547-6"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rtlCol="0">
            <a:noAutofit/>
          </a:bodyPr>
          <a:lstStyle/>
          <a:p>
            <a:pPr>
              <a:defRPr/>
            </a:pPr>
            <a:r>
              <a:rPr lang="en-US" sz="3200" dirty="0">
                <a:solidFill>
                  <a:srgbClr val="7030A0"/>
                </a:solidFill>
              </a:rPr>
              <a:t>A Hybrid NLP-Based Chatbot for Medical symptom Analysis and knowledge Retrieval Using Labeled Datasets and Encyclopedic Resources.</a:t>
            </a:r>
          </a:p>
        </p:txBody>
      </p:sp>
      <p:sp>
        <p:nvSpPr>
          <p:cNvPr id="5" name="Subtitle 4"/>
          <p:cNvSpPr>
            <a:spLocks noGrp="1"/>
          </p:cNvSpPr>
          <p:nvPr>
            <p:ph type="subTitle" idx="1"/>
          </p:nvPr>
        </p:nvSpPr>
        <p:spPr>
          <a:xfrm>
            <a:off x="3695700" y="3973399"/>
            <a:ext cx="4800600" cy="2438400"/>
          </a:xfrm>
        </p:spPr>
        <p:txBody>
          <a:bodyPr rtlCol="0">
            <a:normAutofit/>
          </a:bodyPr>
          <a:lstStyle/>
          <a:p>
            <a:r>
              <a:rPr lang="en-US" sz="2200" b="1" dirty="0">
                <a:solidFill>
                  <a:schemeClr val="tx1"/>
                </a:solidFill>
                <a:latin typeface="Times New Roman" panose="02020603050405020304" pitchFamily="18" charset="0"/>
                <a:cs typeface="Times New Roman" panose="02020603050405020304" pitchFamily="18" charset="0"/>
              </a:rPr>
              <a:t>Mehedi Hasan</a:t>
            </a:r>
          </a:p>
          <a:p>
            <a:r>
              <a:rPr lang="en-US" sz="2200" b="1" dirty="0">
                <a:solidFill>
                  <a:schemeClr val="tx1"/>
                </a:solidFill>
                <a:latin typeface="Times New Roman" panose="02020603050405020304" pitchFamily="18" charset="0"/>
                <a:cs typeface="Times New Roman" panose="02020603050405020304" pitchFamily="18" charset="0"/>
              </a:rPr>
              <a:t>ID : </a:t>
            </a:r>
            <a:r>
              <a:rPr lang="en-US" sz="2200" dirty="0">
                <a:solidFill>
                  <a:schemeClr val="tx1"/>
                </a:solidFill>
                <a:latin typeface="Times New Roman" panose="02020603050405020304" pitchFamily="18" charset="0"/>
                <a:cs typeface="Times New Roman" panose="02020603050405020304" pitchFamily="18" charset="0"/>
              </a:rPr>
              <a:t>221-15-4680</a:t>
            </a:r>
          </a:p>
          <a:p>
            <a:r>
              <a:rPr lang="en-US" sz="2200" b="1" dirty="0">
                <a:solidFill>
                  <a:schemeClr val="tx1"/>
                </a:solidFill>
                <a:latin typeface="Times New Roman" panose="02020603050405020304" pitchFamily="18" charset="0"/>
                <a:cs typeface="Times New Roman" panose="02020603050405020304" pitchFamily="18" charset="0"/>
              </a:rPr>
              <a:t>Department : </a:t>
            </a:r>
            <a:r>
              <a:rPr lang="en-US" sz="2200" dirty="0">
                <a:solidFill>
                  <a:schemeClr val="tx1"/>
                </a:solidFill>
                <a:latin typeface="Times New Roman" panose="02020603050405020304" pitchFamily="18" charset="0"/>
                <a:cs typeface="Times New Roman" panose="02020603050405020304" pitchFamily="18" charset="0"/>
              </a:rPr>
              <a:t>CSE</a:t>
            </a:r>
          </a:p>
          <a:p>
            <a:r>
              <a:rPr lang="en-US" sz="2200" dirty="0">
                <a:solidFill>
                  <a:schemeClr val="tx1"/>
                </a:solidFill>
                <a:latin typeface="Times New Roman" panose="02020603050405020304" pitchFamily="18" charset="0"/>
                <a:cs typeface="Times New Roman" panose="02020603050405020304" pitchFamily="18" charset="0"/>
              </a:rPr>
              <a:t>Daffodil International University</a:t>
            </a:r>
          </a:p>
          <a:p>
            <a:pPr>
              <a:defRPr/>
            </a:pPr>
            <a:endParaRPr lang="en-US" sz="2800" dirty="0">
              <a:solidFill>
                <a:schemeClr val="tx1"/>
              </a:solidFill>
              <a:latin typeface="Times New Roman" pitchFamily="18" charset="0"/>
              <a:cs typeface="Times New Roman" pitchFamily="18" charset="0"/>
            </a:endParaRPr>
          </a:p>
          <a:p>
            <a:pPr>
              <a:defRPr/>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Outline</a:t>
            </a:r>
            <a:endParaRPr lang="en-US" dirty="0">
              <a:solidFill>
                <a:srgbClr val="7030A0"/>
              </a:solidFill>
            </a:endParaRPr>
          </a:p>
        </p:txBody>
      </p:sp>
      <p:sp>
        <p:nvSpPr>
          <p:cNvPr id="3" name="Content Placeholder 2"/>
          <p:cNvSpPr>
            <a:spLocks noGrp="1"/>
          </p:cNvSpPr>
          <p:nvPr>
            <p:ph sz="quarter" idx="13"/>
          </p:nvPr>
        </p:nvSpPr>
        <p:spPr/>
        <p:txBody>
          <a:bodyPr>
            <a:normAutofit/>
          </a:bodyPr>
          <a:lstStyle/>
          <a:p>
            <a:pPr>
              <a:buFont typeface="Wingdings" pitchFamily="2" charset="2"/>
              <a:buChar char="Ø"/>
            </a:pPr>
            <a:r>
              <a:rPr lang="en-US" sz="2200" dirty="0">
                <a:solidFill>
                  <a:schemeClr val="tx2"/>
                </a:solidFill>
                <a:latin typeface="Times New Roman" panose="02020603050405020304" pitchFamily="18" charset="0"/>
                <a:cs typeface="Times New Roman" panose="02020603050405020304" pitchFamily="18" charset="0"/>
              </a:rPr>
              <a:t>Introduction</a:t>
            </a:r>
          </a:p>
          <a:p>
            <a:pPr>
              <a:buFont typeface="Wingdings" pitchFamily="2" charset="2"/>
              <a:buChar char="Ø"/>
            </a:pPr>
            <a:r>
              <a:rPr lang="en-US" sz="2200" dirty="0">
                <a:solidFill>
                  <a:schemeClr val="tx2"/>
                </a:solidFill>
                <a:latin typeface="Times New Roman" panose="02020603050405020304" pitchFamily="18" charset="0"/>
                <a:cs typeface="Times New Roman" panose="02020603050405020304" pitchFamily="18" charset="0"/>
              </a:rPr>
              <a:t>Objective</a:t>
            </a:r>
          </a:p>
          <a:p>
            <a:pPr>
              <a:buFont typeface="Wingdings" pitchFamily="2" charset="2"/>
              <a:buChar char="Ø"/>
            </a:pPr>
            <a:r>
              <a:rPr lang="en-US" sz="2200" dirty="0">
                <a:solidFill>
                  <a:schemeClr val="tx2"/>
                </a:solidFill>
                <a:latin typeface="Times New Roman" panose="02020603050405020304" pitchFamily="18" charset="0"/>
                <a:cs typeface="Times New Roman" panose="02020603050405020304" pitchFamily="18" charset="0"/>
              </a:rPr>
              <a:t>Background Study</a:t>
            </a:r>
          </a:p>
          <a:p>
            <a:pPr>
              <a:buFont typeface="Wingdings" pitchFamily="2" charset="2"/>
              <a:buChar char="Ø"/>
            </a:pPr>
            <a:r>
              <a:rPr lang="en-US" sz="2200" dirty="0">
                <a:solidFill>
                  <a:schemeClr val="tx2"/>
                </a:solidFill>
                <a:latin typeface="Times New Roman" panose="02020603050405020304" pitchFamily="18" charset="0"/>
                <a:cs typeface="Times New Roman" panose="02020603050405020304" pitchFamily="18" charset="0"/>
              </a:rPr>
              <a:t>Gap Analysis</a:t>
            </a:r>
          </a:p>
          <a:p>
            <a:pPr>
              <a:buFont typeface="Wingdings" pitchFamily="2" charset="2"/>
              <a:buChar char="Ø"/>
            </a:pPr>
            <a:r>
              <a:rPr lang="en-US" sz="2200" dirty="0">
                <a:solidFill>
                  <a:schemeClr val="tx2"/>
                </a:solidFill>
                <a:latin typeface="Times New Roman" panose="02020603050405020304" pitchFamily="18" charset="0"/>
                <a:cs typeface="Times New Roman" panose="02020603050405020304" pitchFamily="18" charset="0"/>
              </a:rPr>
              <a:t>Methodology</a:t>
            </a:r>
          </a:p>
          <a:p>
            <a:pPr>
              <a:buFont typeface="Wingdings" pitchFamily="2" charset="2"/>
              <a:buChar char="Ø"/>
            </a:pPr>
            <a:r>
              <a:rPr lang="en-US" sz="2200" dirty="0">
                <a:solidFill>
                  <a:schemeClr val="tx2"/>
                </a:solidFill>
                <a:latin typeface="Times New Roman" panose="02020603050405020304" pitchFamily="18" charset="0"/>
                <a:cs typeface="Times New Roman" panose="02020603050405020304" pitchFamily="18" charset="0"/>
              </a:rPr>
              <a:t>Results &amp; Analysis</a:t>
            </a:r>
          </a:p>
          <a:p>
            <a:pPr>
              <a:buFont typeface="Wingdings" pitchFamily="2" charset="2"/>
              <a:buChar char="Ø"/>
            </a:pPr>
            <a:r>
              <a:rPr lang="en-US" sz="2200" dirty="0">
                <a:solidFill>
                  <a:schemeClr val="tx2"/>
                </a:solidFill>
                <a:latin typeface="Times New Roman" panose="02020603050405020304" pitchFamily="18" charset="0"/>
                <a:cs typeface="Times New Roman" panose="02020603050405020304" pitchFamily="18" charset="0"/>
              </a:rPr>
              <a:t>Novelty of the Work</a:t>
            </a:r>
          </a:p>
          <a:p>
            <a:pPr>
              <a:buFont typeface="Wingdings" pitchFamily="2" charset="2"/>
              <a:buChar char="Ø"/>
            </a:pPr>
            <a:r>
              <a:rPr lang="en-US" sz="2200" dirty="0">
                <a:solidFill>
                  <a:schemeClr val="tx2"/>
                </a:solidFill>
                <a:latin typeface="Times New Roman" panose="02020603050405020304" pitchFamily="18" charset="0"/>
                <a:cs typeface="Times New Roman" panose="02020603050405020304" pitchFamily="18" charset="0"/>
              </a:rPr>
              <a:t>Conclusion</a:t>
            </a:r>
          </a:p>
          <a:p>
            <a:pPr>
              <a:buFont typeface="Wingdings" pitchFamily="2" charset="2"/>
              <a:buChar char="Ø"/>
            </a:pPr>
            <a:r>
              <a:rPr lang="en-US" sz="2200" dirty="0">
                <a:solidFill>
                  <a:schemeClr val="tx2"/>
                </a:solidFill>
                <a:latin typeface="Times New Roman" panose="02020603050405020304" pitchFamily="18" charset="0"/>
                <a:cs typeface="Times New Roman" panose="02020603050405020304" pitchFamily="18" charset="0"/>
              </a:rPr>
              <a:t>References</a:t>
            </a:r>
          </a:p>
          <a:p>
            <a:pPr>
              <a:buNone/>
            </a:pPr>
            <a:endParaRPr lang="en-US" dirty="0"/>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Introduction</a:t>
            </a:r>
            <a:endParaRPr lang="en-US" dirty="0">
              <a:solidFill>
                <a:srgbClr val="7030A0"/>
              </a:solidFill>
            </a:endParaRP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3</a:t>
            </a:fld>
            <a:endParaRPr lang="en-US" dirty="0"/>
          </a:p>
        </p:txBody>
      </p:sp>
      <p:sp>
        <p:nvSpPr>
          <p:cNvPr id="5" name="Content Placeholder 2">
            <a:extLst>
              <a:ext uri="{FF2B5EF4-FFF2-40B4-BE49-F238E27FC236}">
                <a16:creationId xmlns:a16="http://schemas.microsoft.com/office/drawing/2014/main" id="{39712477-4375-2A21-0B58-9CCAB8002F66}"/>
              </a:ext>
            </a:extLst>
          </p:cNvPr>
          <p:cNvSpPr txBox="1">
            <a:spLocks/>
          </p:cNvSpPr>
          <p:nvPr/>
        </p:nvSpPr>
        <p:spPr>
          <a:xfrm>
            <a:off x="609600" y="1676400"/>
            <a:ext cx="6629400" cy="39624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accent5">
                    <a:lumMod val="7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accent2">
                    <a:lumMod val="7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accent6">
                    <a:lumMod val="7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fontAlgn="auto">
              <a:spcAft>
                <a:spcPts val="0"/>
              </a:spcAft>
              <a:buFont typeface="Arial" pitchFamily="34" charset="0"/>
              <a:buNone/>
            </a:pPr>
            <a:r>
              <a:rPr lang="en-US" sz="2200" dirty="0"/>
              <a:t>AI-powered medical chatbots assist users by offering symptom-based diagnosis or medical information separately. Current solutions lack integration of both, limiting accuracy and trust. This project develops a hybrid intelligent chatbot that combines symptom classification with retrieval-augmented generation, providing accurate diagnoses and evidence-based medical answers within one unified system.</a:t>
            </a:r>
            <a:endParaRPr lang="en-US" sz="2200" dirty="0">
              <a:solidFill>
                <a:schemeClr val="tx1"/>
              </a:solidFill>
              <a:latin typeface="Times New Roman" pitchFamily="18" charset="0"/>
              <a:cs typeface="Times New Roman" pitchFamily="18" charset="0"/>
            </a:endParaRPr>
          </a:p>
        </p:txBody>
      </p:sp>
      <p:pic>
        <p:nvPicPr>
          <p:cNvPr id="6" name="Picture 2" descr="Chabot Vectors - Download Free High-Quality Vectors from Freepik | Freepik">
            <a:extLst>
              <a:ext uri="{FF2B5EF4-FFF2-40B4-BE49-F238E27FC236}">
                <a16:creationId xmlns:a16="http://schemas.microsoft.com/office/drawing/2014/main" id="{98994104-8277-5367-3CD8-2A60E690FD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0" y="1524000"/>
            <a:ext cx="3505200"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5605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Objective</a:t>
            </a:r>
            <a:endParaRPr lang="en-US" dirty="0">
              <a:solidFill>
                <a:srgbClr val="7030A0"/>
              </a:solidFill>
            </a:endParaRPr>
          </a:p>
        </p:txBody>
      </p:sp>
      <p:sp>
        <p:nvSpPr>
          <p:cNvPr id="3" name="Content Placeholder 2"/>
          <p:cNvSpPr>
            <a:spLocks noGrp="1"/>
          </p:cNvSpPr>
          <p:nvPr>
            <p:ph sz="quarter" idx="13"/>
          </p:nvPr>
        </p:nvSpPr>
        <p:spPr/>
        <p:txBody>
          <a:bodyPr>
            <a:normAutofit/>
          </a:bodyPr>
          <a:lstStyle/>
          <a:p>
            <a:pPr>
              <a:buFont typeface="Wingdings" panose="05000000000000000000" pitchFamily="2" charset="2"/>
              <a:buChar char="Ø"/>
            </a:pPr>
            <a:r>
              <a:rPr lang="en-US" sz="2200" dirty="0">
                <a:cs typeface="Times New Roman" pitchFamily="18" charset="0"/>
              </a:rPr>
              <a:t>Develop a Hybrid AI-Powered Medical Chatbot</a:t>
            </a:r>
          </a:p>
          <a:p>
            <a:pPr>
              <a:buFont typeface="Wingdings" panose="05000000000000000000" pitchFamily="2" charset="2"/>
              <a:buChar char="Ø"/>
            </a:pPr>
            <a:r>
              <a:rPr lang="en-US" sz="2200" dirty="0">
                <a:cs typeface="Times New Roman" pitchFamily="18" charset="0"/>
              </a:rPr>
              <a:t>Implement Symptom-Based Disease Prediction</a:t>
            </a:r>
          </a:p>
          <a:p>
            <a:pPr>
              <a:buFont typeface="Wingdings" panose="05000000000000000000" pitchFamily="2" charset="2"/>
              <a:buChar char="Ø"/>
            </a:pPr>
            <a:r>
              <a:rPr lang="en-US" sz="2200" dirty="0">
                <a:cs typeface="Times New Roman" pitchFamily="18" charset="0"/>
              </a:rPr>
              <a:t>Enhance Medical Knowledge Retrieval Using LLMs</a:t>
            </a:r>
          </a:p>
          <a:p>
            <a:pPr>
              <a:buFont typeface="Wingdings" panose="05000000000000000000" pitchFamily="2" charset="2"/>
              <a:buChar char="Ø"/>
            </a:pPr>
            <a:r>
              <a:rPr lang="en-US" sz="2200" dirty="0">
                <a:cs typeface="Times New Roman" pitchFamily="18" charset="0"/>
              </a:rPr>
              <a:t>Combine Structured and Unstructured Medical Data</a:t>
            </a:r>
          </a:p>
          <a:p>
            <a:pPr>
              <a:buFont typeface="Wingdings" panose="05000000000000000000" pitchFamily="2" charset="2"/>
              <a:buChar char="Ø"/>
            </a:pPr>
            <a:r>
              <a:rPr lang="en-US" sz="2200" dirty="0">
                <a:cs typeface="Times New Roman" pitchFamily="18" charset="0"/>
              </a:rPr>
              <a:t>Ensure Context-Aware and Accurate Responses</a:t>
            </a:r>
          </a:p>
          <a:p>
            <a:pPr>
              <a:buFont typeface="Wingdings" panose="05000000000000000000" pitchFamily="2" charset="2"/>
              <a:buChar char="Ø"/>
            </a:pPr>
            <a:r>
              <a:rPr lang="en-US" sz="2200" dirty="0">
                <a:cs typeface="Times New Roman" pitchFamily="18" charset="0"/>
              </a:rPr>
              <a:t>Optimize Model Performance and User Experience</a:t>
            </a: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4</a:t>
            </a:fld>
            <a:endParaRPr lang="en-US" dirty="0"/>
          </a:p>
        </p:txBody>
      </p:sp>
    </p:spTree>
    <p:extLst>
      <p:ext uri="{BB962C8B-B14F-4D97-AF65-F5344CB8AC3E}">
        <p14:creationId xmlns:p14="http://schemas.microsoft.com/office/powerpoint/2010/main" val="825664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Background Study</a:t>
            </a:r>
            <a:endParaRPr lang="en-US" dirty="0">
              <a:solidFill>
                <a:srgbClr val="7030A0"/>
              </a:solidFill>
            </a:endParaRPr>
          </a:p>
        </p:txBody>
      </p:sp>
      <p:graphicFrame>
        <p:nvGraphicFramePr>
          <p:cNvPr id="5" name="Content Placeholder 4">
            <a:extLst>
              <a:ext uri="{FF2B5EF4-FFF2-40B4-BE49-F238E27FC236}">
                <a16:creationId xmlns:a16="http://schemas.microsoft.com/office/drawing/2014/main" id="{31B48FFA-E8B9-1F43-E941-DEFBC7B21189}"/>
              </a:ext>
            </a:extLst>
          </p:cNvPr>
          <p:cNvGraphicFramePr>
            <a:graphicFrameLocks noGrp="1"/>
          </p:cNvGraphicFramePr>
          <p:nvPr>
            <p:ph sz="quarter" idx="13"/>
            <p:extLst>
              <p:ext uri="{D42A27DB-BD31-4B8C-83A1-F6EECF244321}">
                <p14:modId xmlns:p14="http://schemas.microsoft.com/office/powerpoint/2010/main" val="710521886"/>
              </p:ext>
            </p:extLst>
          </p:nvPr>
        </p:nvGraphicFramePr>
        <p:xfrm>
          <a:off x="533399" y="1142998"/>
          <a:ext cx="11049001" cy="5136343"/>
        </p:xfrm>
        <a:graphic>
          <a:graphicData uri="http://schemas.openxmlformats.org/drawingml/2006/table">
            <a:tbl>
              <a:tblPr/>
              <a:tblGrid>
                <a:gridCol w="1654593">
                  <a:extLst>
                    <a:ext uri="{9D8B030D-6E8A-4147-A177-3AD203B41FA5}">
                      <a16:colId xmlns:a16="http://schemas.microsoft.com/office/drawing/2014/main" val="376035861"/>
                    </a:ext>
                  </a:extLst>
                </a:gridCol>
                <a:gridCol w="808911">
                  <a:extLst>
                    <a:ext uri="{9D8B030D-6E8A-4147-A177-3AD203B41FA5}">
                      <a16:colId xmlns:a16="http://schemas.microsoft.com/office/drawing/2014/main" val="926011602"/>
                    </a:ext>
                  </a:extLst>
                </a:gridCol>
                <a:gridCol w="2867961">
                  <a:extLst>
                    <a:ext uri="{9D8B030D-6E8A-4147-A177-3AD203B41FA5}">
                      <a16:colId xmlns:a16="http://schemas.microsoft.com/office/drawing/2014/main" val="1531601137"/>
                    </a:ext>
                  </a:extLst>
                </a:gridCol>
                <a:gridCol w="2831193">
                  <a:extLst>
                    <a:ext uri="{9D8B030D-6E8A-4147-A177-3AD203B41FA5}">
                      <a16:colId xmlns:a16="http://schemas.microsoft.com/office/drawing/2014/main" val="138438136"/>
                    </a:ext>
                  </a:extLst>
                </a:gridCol>
                <a:gridCol w="2886343">
                  <a:extLst>
                    <a:ext uri="{9D8B030D-6E8A-4147-A177-3AD203B41FA5}">
                      <a16:colId xmlns:a16="http://schemas.microsoft.com/office/drawing/2014/main" val="4260239161"/>
                    </a:ext>
                  </a:extLst>
                </a:gridCol>
              </a:tblGrid>
              <a:tr h="225202">
                <a:tc>
                  <a:txBody>
                    <a:bodyPr/>
                    <a:lstStyle/>
                    <a:p>
                      <a:pPr algn="ctr" rtl="0" fontAlgn="t">
                        <a:buNone/>
                      </a:pPr>
                      <a:r>
                        <a:rPr lang="en-US" sz="1200" b="1" i="0" u="none" strike="noStrike" dirty="0">
                          <a:solidFill>
                            <a:schemeClr val="tx2"/>
                          </a:solidFill>
                          <a:effectLst/>
                          <a:latin typeface="Century" panose="02040604050505020304" pitchFamily="18" charset="0"/>
                        </a:rPr>
                        <a:t>Author(s)</a:t>
                      </a:r>
                      <a:endParaRPr lang="en-US" sz="1200" dirty="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1200" b="1" i="0" u="none" strike="noStrike">
                          <a:solidFill>
                            <a:schemeClr val="tx2"/>
                          </a:solidFill>
                          <a:effectLst/>
                          <a:latin typeface="Century" panose="02040604050505020304" pitchFamily="18" charset="0"/>
                        </a:rPr>
                        <a:t>Year</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1200" b="1" i="0" u="none" strike="noStrike">
                          <a:solidFill>
                            <a:schemeClr val="tx2"/>
                          </a:solidFill>
                          <a:effectLst/>
                          <a:latin typeface="Century" panose="02040604050505020304" pitchFamily="18" charset="0"/>
                        </a:rPr>
                        <a:t>Title</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1200" b="1" i="0" u="none" strike="noStrike">
                          <a:solidFill>
                            <a:schemeClr val="tx2"/>
                          </a:solidFill>
                          <a:effectLst/>
                          <a:latin typeface="Century" panose="02040604050505020304" pitchFamily="18" charset="0"/>
                        </a:rPr>
                        <a:t>Methodology</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1200" b="1" i="0" u="none" strike="noStrike">
                          <a:solidFill>
                            <a:schemeClr val="tx2"/>
                          </a:solidFill>
                          <a:effectLst/>
                          <a:latin typeface="Century" panose="02040604050505020304" pitchFamily="18" charset="0"/>
                        </a:rPr>
                        <a:t>Key Findings</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52439729"/>
                  </a:ext>
                </a:extLst>
              </a:tr>
              <a:tr h="470201">
                <a:tc>
                  <a:txBody>
                    <a:bodyPr/>
                    <a:lstStyle/>
                    <a:p>
                      <a:pPr algn="just" rtl="0" fontAlgn="t">
                        <a:buNone/>
                      </a:pPr>
                      <a:r>
                        <a:rPr lang="en-US" sz="1200" b="0" i="0" u="none" strike="noStrike" dirty="0">
                          <a:solidFill>
                            <a:schemeClr val="tx2"/>
                          </a:solidFill>
                          <a:effectLst/>
                          <a:latin typeface="Century" panose="02040604050505020304" pitchFamily="18" charset="0"/>
                        </a:rPr>
                        <a:t>Kumar et al. </a:t>
                      </a:r>
                      <a:r>
                        <a:rPr lang="en-US" sz="1200" b="1" i="0" u="none" strike="noStrike" dirty="0">
                          <a:solidFill>
                            <a:schemeClr val="tx2"/>
                          </a:solidFill>
                          <a:effectLst/>
                          <a:latin typeface="Century" panose="02040604050505020304" pitchFamily="18" charset="0"/>
                        </a:rPr>
                        <a:t>[20]</a:t>
                      </a:r>
                      <a:endParaRPr lang="en-US" sz="1200" dirty="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2020</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Disease Prediction Using Machine Learning Techniques</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SVM, Naïve Bayes, Random Forest, Ensemble Models</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73.8%–89.2% accuracy; ensemble methods most effective</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7417500"/>
                  </a:ext>
                </a:extLst>
              </a:tr>
              <a:tr h="388535">
                <a:tc>
                  <a:txBody>
                    <a:bodyPr/>
                    <a:lstStyle/>
                    <a:p>
                      <a:pPr algn="just" rtl="0" fontAlgn="t">
                        <a:buNone/>
                      </a:pPr>
                      <a:r>
                        <a:rPr lang="en-US" sz="1200" b="0" i="0" u="none" strike="noStrike" dirty="0">
                          <a:solidFill>
                            <a:schemeClr val="tx2"/>
                          </a:solidFill>
                          <a:effectLst/>
                          <a:latin typeface="Century" panose="02040604050505020304" pitchFamily="18" charset="0"/>
                        </a:rPr>
                        <a:t>Wang et al. </a:t>
                      </a:r>
                      <a:r>
                        <a:rPr lang="en-US" sz="1200" b="1" i="0" u="none" strike="noStrike" dirty="0">
                          <a:solidFill>
                            <a:schemeClr val="tx2"/>
                          </a:solidFill>
                          <a:effectLst/>
                          <a:latin typeface="Century" panose="02040604050505020304" pitchFamily="18" charset="0"/>
                        </a:rPr>
                        <a:t>[22]</a:t>
                      </a:r>
                      <a:endParaRPr lang="en-US" sz="1200" dirty="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dirty="0">
                          <a:solidFill>
                            <a:schemeClr val="tx2"/>
                          </a:solidFill>
                          <a:effectLst/>
                          <a:latin typeface="Century" panose="02040604050505020304" pitchFamily="18" charset="0"/>
                        </a:rPr>
                        <a:t>2019</a:t>
                      </a:r>
                      <a:endParaRPr lang="en-US" sz="1200" dirty="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Ensemble Learning for Cardiovascular Prediction</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Voting &amp; Stacking Ensembles</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12–15% improvement over individual classifiers</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06080257"/>
                  </a:ext>
                </a:extLst>
              </a:tr>
              <a:tr h="306869">
                <a:tc>
                  <a:txBody>
                    <a:bodyPr/>
                    <a:lstStyle/>
                    <a:p>
                      <a:pPr algn="just" rtl="0" fontAlgn="t">
                        <a:buNone/>
                      </a:pPr>
                      <a:r>
                        <a:rPr lang="en-US" sz="1200" b="0" i="0" u="none" strike="noStrike" dirty="0">
                          <a:solidFill>
                            <a:schemeClr val="tx2"/>
                          </a:solidFill>
                          <a:effectLst/>
                          <a:latin typeface="Century" panose="02040604050505020304" pitchFamily="18" charset="0"/>
                        </a:rPr>
                        <a:t>Wang et al. </a:t>
                      </a:r>
                      <a:r>
                        <a:rPr lang="en-US" sz="1200" b="1" i="0" u="none" strike="noStrike" dirty="0">
                          <a:solidFill>
                            <a:schemeClr val="tx2"/>
                          </a:solidFill>
                          <a:effectLst/>
                          <a:latin typeface="Century" panose="02040604050505020304" pitchFamily="18" charset="0"/>
                        </a:rPr>
                        <a:t>[25]</a:t>
                      </a:r>
                      <a:endParaRPr lang="en-US" sz="1200" dirty="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2021</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dirty="0">
                          <a:solidFill>
                            <a:schemeClr val="tx2"/>
                          </a:solidFill>
                          <a:effectLst/>
                          <a:latin typeface="Century" panose="02040604050505020304" pitchFamily="18" charset="0"/>
                        </a:rPr>
                        <a:t>Multi-Class Diagnosis via Ensembles</a:t>
                      </a:r>
                      <a:endParaRPr lang="en-US" sz="1200" dirty="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Stacking Ensemble</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89.6% accuracy</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65185736"/>
                  </a:ext>
                </a:extLst>
              </a:tr>
              <a:tr h="306869">
                <a:tc>
                  <a:txBody>
                    <a:bodyPr/>
                    <a:lstStyle/>
                    <a:p>
                      <a:pPr algn="just" rtl="0" fontAlgn="t">
                        <a:buNone/>
                      </a:pPr>
                      <a:r>
                        <a:rPr lang="en-US" sz="1200" b="0" i="0" u="none" strike="noStrike">
                          <a:solidFill>
                            <a:schemeClr val="tx2"/>
                          </a:solidFill>
                          <a:effectLst/>
                          <a:latin typeface="Century" panose="02040604050505020304" pitchFamily="18" charset="0"/>
                        </a:rPr>
                        <a:t>Martinez et al. </a:t>
                      </a:r>
                      <a:r>
                        <a:rPr lang="en-US" sz="1200" b="1" i="0" u="none" strike="noStrike">
                          <a:solidFill>
                            <a:schemeClr val="tx2"/>
                          </a:solidFill>
                          <a:effectLst/>
                          <a:latin typeface="Century" panose="02040604050505020304" pitchFamily="18" charset="0"/>
                        </a:rPr>
                        <a:t>[26]</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dirty="0">
                          <a:solidFill>
                            <a:schemeClr val="tx2"/>
                          </a:solidFill>
                          <a:effectLst/>
                          <a:latin typeface="Century" panose="02040604050505020304" pitchFamily="18" charset="0"/>
                        </a:rPr>
                        <a:t>2018</a:t>
                      </a:r>
                      <a:endParaRPr lang="en-US" sz="1200" dirty="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dirty="0">
                          <a:solidFill>
                            <a:schemeClr val="tx2"/>
                          </a:solidFill>
                          <a:effectLst/>
                          <a:latin typeface="Century" panose="02040604050505020304" pitchFamily="18" charset="0"/>
                        </a:rPr>
                        <a:t>Feature Engineering for Medical Text</a:t>
                      </a:r>
                      <a:endParaRPr lang="en-US" sz="1200" dirty="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Domain-specific feature design</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18–23% accuracy improvement</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87222475"/>
                  </a:ext>
                </a:extLst>
              </a:tr>
              <a:tr h="306869">
                <a:tc>
                  <a:txBody>
                    <a:bodyPr/>
                    <a:lstStyle/>
                    <a:p>
                      <a:pPr algn="just" rtl="0" fontAlgn="t">
                        <a:buNone/>
                      </a:pPr>
                      <a:r>
                        <a:rPr lang="en-US" sz="1200" b="0" i="0" u="none" strike="noStrike" dirty="0">
                          <a:solidFill>
                            <a:schemeClr val="tx2"/>
                          </a:solidFill>
                          <a:effectLst/>
                          <a:latin typeface="Century" panose="02040604050505020304" pitchFamily="18" charset="0"/>
                        </a:rPr>
                        <a:t>Ganie et al. </a:t>
                      </a:r>
                      <a:r>
                        <a:rPr lang="en-US" sz="1200" b="1" i="0" u="none" strike="noStrike" dirty="0">
                          <a:solidFill>
                            <a:schemeClr val="tx2"/>
                          </a:solidFill>
                          <a:effectLst/>
                          <a:latin typeface="Century" panose="02040604050505020304" pitchFamily="18" charset="0"/>
                        </a:rPr>
                        <a:t>[9]</a:t>
                      </a:r>
                      <a:endParaRPr lang="en-US" sz="1200" dirty="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2022</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dirty="0">
                          <a:solidFill>
                            <a:schemeClr val="tx2"/>
                          </a:solidFill>
                          <a:effectLst/>
                          <a:latin typeface="Century" panose="02040604050505020304" pitchFamily="18" charset="0"/>
                        </a:rPr>
                        <a:t>Explainable AI in Heart Diagnosis</a:t>
                      </a:r>
                      <a:endParaRPr lang="en-US" sz="1200" dirty="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dirty="0">
                          <a:solidFill>
                            <a:schemeClr val="tx2"/>
                          </a:solidFill>
                          <a:effectLst/>
                          <a:latin typeface="Century" panose="02040604050505020304" pitchFamily="18" charset="0"/>
                        </a:rPr>
                        <a:t>Ensemble + XAI</a:t>
                      </a:r>
                      <a:endParaRPr lang="en-US" sz="1200" dirty="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High accuracy with interpretability</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0204761"/>
                  </a:ext>
                </a:extLst>
              </a:tr>
              <a:tr h="306869">
                <a:tc>
                  <a:txBody>
                    <a:bodyPr/>
                    <a:lstStyle/>
                    <a:p>
                      <a:pPr algn="just" rtl="0" fontAlgn="t">
                        <a:buNone/>
                      </a:pPr>
                      <a:r>
                        <a:rPr lang="en-US" sz="1200" b="0" i="0" u="none" strike="noStrike">
                          <a:solidFill>
                            <a:schemeClr val="tx2"/>
                          </a:solidFill>
                          <a:effectLst/>
                          <a:latin typeface="Century" panose="02040604050505020304" pitchFamily="18" charset="0"/>
                        </a:rPr>
                        <a:t>Mahajan et al. </a:t>
                      </a:r>
                      <a:r>
                        <a:rPr lang="en-US" sz="1200" b="1" i="0" u="none" strike="noStrike">
                          <a:solidFill>
                            <a:schemeClr val="tx2"/>
                          </a:solidFill>
                          <a:effectLst/>
                          <a:latin typeface="Century" panose="02040604050505020304" pitchFamily="18" charset="0"/>
                        </a:rPr>
                        <a:t>[4]</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2020</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dirty="0">
                          <a:solidFill>
                            <a:schemeClr val="tx2"/>
                          </a:solidFill>
                          <a:effectLst/>
                          <a:latin typeface="Century" panose="02040604050505020304" pitchFamily="18" charset="0"/>
                        </a:rPr>
                        <a:t>Review of Ensemble Learning</a:t>
                      </a:r>
                      <a:endParaRPr lang="en-US" sz="1200" dirty="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dirty="0">
                          <a:solidFill>
                            <a:schemeClr val="tx2"/>
                          </a:solidFill>
                          <a:effectLst/>
                          <a:latin typeface="Century" panose="02040604050505020304" pitchFamily="18" charset="0"/>
                        </a:rPr>
                        <a:t>Systematic Review</a:t>
                      </a:r>
                      <a:endParaRPr lang="en-US" sz="1200" dirty="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No universal best ensemble</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18856550"/>
                  </a:ext>
                </a:extLst>
              </a:tr>
              <a:tr h="306869">
                <a:tc>
                  <a:txBody>
                    <a:bodyPr/>
                    <a:lstStyle/>
                    <a:p>
                      <a:pPr algn="just" rtl="0" fontAlgn="t">
                        <a:buNone/>
                      </a:pPr>
                      <a:r>
                        <a:rPr lang="en-US" sz="1200" b="0" i="0" u="none" strike="noStrike">
                          <a:solidFill>
                            <a:schemeClr val="tx2"/>
                          </a:solidFill>
                          <a:effectLst/>
                          <a:latin typeface="Century" panose="02040604050505020304" pitchFamily="18" charset="0"/>
                        </a:rPr>
                        <a:t>Johnson et al. </a:t>
                      </a:r>
                      <a:r>
                        <a:rPr lang="en-US" sz="1200" b="1" i="0" u="none" strike="noStrike">
                          <a:solidFill>
                            <a:schemeClr val="tx2"/>
                          </a:solidFill>
                          <a:effectLst/>
                          <a:latin typeface="Century" panose="02040604050505020304" pitchFamily="18" charset="0"/>
                        </a:rPr>
                        <a:t>[5]</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2022</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dirty="0">
                          <a:solidFill>
                            <a:schemeClr val="tx2"/>
                          </a:solidFill>
                          <a:effectLst/>
                          <a:latin typeface="Century" panose="02040604050505020304" pitchFamily="18" charset="0"/>
                        </a:rPr>
                        <a:t>Medical RAG Systems</a:t>
                      </a:r>
                      <a:endParaRPr lang="en-US" sz="1200" dirty="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dirty="0">
                          <a:solidFill>
                            <a:schemeClr val="tx2"/>
                          </a:solidFill>
                          <a:effectLst/>
                          <a:latin typeface="Century" panose="02040604050505020304" pitchFamily="18" charset="0"/>
                        </a:rPr>
                        <a:t>Retrieval-Augmented Generation</a:t>
                      </a:r>
                      <a:endParaRPr lang="en-US" sz="1200" dirty="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91% expert-evaluated accuracy</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23539354"/>
                  </a:ext>
                </a:extLst>
              </a:tr>
              <a:tr h="306869">
                <a:tc>
                  <a:txBody>
                    <a:bodyPr/>
                    <a:lstStyle/>
                    <a:p>
                      <a:pPr algn="just" rtl="0" fontAlgn="t">
                        <a:buNone/>
                      </a:pPr>
                      <a:r>
                        <a:rPr lang="en-US" sz="1200" b="0" i="0" u="none" strike="noStrike">
                          <a:solidFill>
                            <a:schemeClr val="tx2"/>
                          </a:solidFill>
                          <a:effectLst/>
                          <a:latin typeface="Century" panose="02040604050505020304" pitchFamily="18" charset="0"/>
                        </a:rPr>
                        <a:t>Thompson et al. </a:t>
                      </a:r>
                      <a:r>
                        <a:rPr lang="en-US" sz="1200" b="1" i="0" u="none" strike="noStrike">
                          <a:solidFill>
                            <a:schemeClr val="tx2"/>
                          </a:solidFill>
                          <a:effectLst/>
                          <a:latin typeface="Century" panose="02040604050505020304" pitchFamily="18" charset="0"/>
                        </a:rPr>
                        <a:t>[28]</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2021</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Fact Verification using RAG</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dirty="0">
                          <a:solidFill>
                            <a:schemeClr val="tx2"/>
                          </a:solidFill>
                          <a:effectLst/>
                          <a:latin typeface="Century" panose="02040604050505020304" pitchFamily="18" charset="0"/>
                        </a:rPr>
                        <a:t>RAG vs Web Retrieval</a:t>
                      </a:r>
                      <a:endParaRPr lang="en-US" sz="1200" dirty="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87% correctness using curated sources</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11652528"/>
                  </a:ext>
                </a:extLst>
              </a:tr>
              <a:tr h="238194">
                <a:tc>
                  <a:txBody>
                    <a:bodyPr/>
                    <a:lstStyle/>
                    <a:p>
                      <a:pPr algn="just" rtl="0" fontAlgn="t">
                        <a:buNone/>
                      </a:pPr>
                      <a:r>
                        <a:rPr lang="en-US" sz="1200" b="0" i="0" u="none" strike="noStrike">
                          <a:solidFill>
                            <a:schemeClr val="tx2"/>
                          </a:solidFill>
                          <a:effectLst/>
                          <a:latin typeface="Century" panose="02040604050505020304" pitchFamily="18" charset="0"/>
                        </a:rPr>
                        <a:t>Chen et al. </a:t>
                      </a:r>
                      <a:r>
                        <a:rPr lang="en-US" sz="1200" b="1" i="0" u="none" strike="noStrike">
                          <a:solidFill>
                            <a:schemeClr val="tx2"/>
                          </a:solidFill>
                          <a:effectLst/>
                          <a:latin typeface="Century" panose="02040604050505020304" pitchFamily="18" charset="0"/>
                        </a:rPr>
                        <a:t>[3]</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2023</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MRD-RAG</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dirty="0">
                          <a:solidFill>
                            <a:schemeClr val="tx2"/>
                          </a:solidFill>
                          <a:effectLst/>
                          <a:latin typeface="Century" panose="02040604050505020304" pitchFamily="18" charset="0"/>
                        </a:rPr>
                        <a:t>Iterative Medical RAG</a:t>
                      </a:r>
                      <a:endParaRPr lang="en-US" sz="1200" dirty="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Outperformed single retrieval</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48928498"/>
                  </a:ext>
                </a:extLst>
              </a:tr>
              <a:tr h="306869">
                <a:tc>
                  <a:txBody>
                    <a:bodyPr/>
                    <a:lstStyle/>
                    <a:p>
                      <a:pPr algn="just" rtl="0" fontAlgn="t">
                        <a:buNone/>
                      </a:pPr>
                      <a:r>
                        <a:rPr lang="en-US" sz="1200" b="0" i="0" u="none" strike="noStrike">
                          <a:solidFill>
                            <a:schemeClr val="tx2"/>
                          </a:solidFill>
                          <a:effectLst/>
                          <a:latin typeface="Century" panose="02040604050505020304" pitchFamily="18" charset="0"/>
                        </a:rPr>
                        <a:t>Yang et al. </a:t>
                      </a:r>
                      <a:r>
                        <a:rPr lang="en-US" sz="1200" b="1" i="0" u="none" strike="noStrike">
                          <a:solidFill>
                            <a:schemeClr val="tx2"/>
                          </a:solidFill>
                          <a:effectLst/>
                          <a:latin typeface="Century" panose="02040604050505020304" pitchFamily="18" charset="0"/>
                        </a:rPr>
                        <a:t>[6]</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2022</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RAG-Based Medical Diagnosis</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Conversational RAG</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dirty="0">
                          <a:solidFill>
                            <a:schemeClr val="tx2"/>
                          </a:solidFill>
                          <a:effectLst/>
                          <a:latin typeface="Century" panose="02040604050505020304" pitchFamily="18" charset="0"/>
                        </a:rPr>
                        <a:t>Reduced hallucination</a:t>
                      </a:r>
                      <a:endParaRPr lang="en-US" sz="1200" dirty="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70424784"/>
                  </a:ext>
                </a:extLst>
              </a:tr>
              <a:tr h="306869">
                <a:tc>
                  <a:txBody>
                    <a:bodyPr/>
                    <a:lstStyle/>
                    <a:p>
                      <a:pPr algn="just" rtl="0" fontAlgn="t">
                        <a:buNone/>
                      </a:pPr>
                      <a:r>
                        <a:rPr lang="en-US" sz="1200" b="0" i="0" u="none" strike="noStrike">
                          <a:solidFill>
                            <a:schemeClr val="tx2"/>
                          </a:solidFill>
                          <a:effectLst/>
                          <a:latin typeface="Century" panose="02040604050505020304" pitchFamily="18" charset="0"/>
                        </a:rPr>
                        <a:t>Rodriguez et al. </a:t>
                      </a:r>
                      <a:r>
                        <a:rPr lang="en-US" sz="1200" b="1" i="0" u="none" strike="noStrike">
                          <a:solidFill>
                            <a:schemeClr val="tx2"/>
                          </a:solidFill>
                          <a:effectLst/>
                          <a:latin typeface="Century" panose="02040604050505020304" pitchFamily="18" charset="0"/>
                        </a:rPr>
                        <a:t>[35]</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2023</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HybridMed</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Rule-based + GPT</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dirty="0">
                          <a:solidFill>
                            <a:schemeClr val="tx2"/>
                          </a:solidFill>
                          <a:effectLst/>
                          <a:latin typeface="Century" panose="02040604050505020304" pitchFamily="18" charset="0"/>
                        </a:rPr>
                        <a:t>92% diagnostic accuracy</a:t>
                      </a:r>
                      <a:endParaRPr lang="en-US" sz="1200" dirty="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55721617"/>
                  </a:ext>
                </a:extLst>
              </a:tr>
              <a:tr h="238194">
                <a:tc>
                  <a:txBody>
                    <a:bodyPr/>
                    <a:lstStyle/>
                    <a:p>
                      <a:pPr algn="just" rtl="0" fontAlgn="t">
                        <a:buNone/>
                      </a:pPr>
                      <a:r>
                        <a:rPr lang="en-US" sz="1200" b="0" i="0" u="none" strike="noStrike">
                          <a:solidFill>
                            <a:schemeClr val="tx2"/>
                          </a:solidFill>
                          <a:effectLst/>
                          <a:latin typeface="Century" panose="02040604050505020304" pitchFamily="18" charset="0"/>
                        </a:rPr>
                        <a:t>Miller et al. </a:t>
                      </a:r>
                      <a:r>
                        <a:rPr lang="en-US" sz="1200" b="1" i="0" u="none" strike="noStrike">
                          <a:solidFill>
                            <a:schemeClr val="tx2"/>
                          </a:solidFill>
                          <a:effectLst/>
                          <a:latin typeface="Century" panose="02040604050505020304" pitchFamily="18" charset="0"/>
                        </a:rPr>
                        <a:t>[36]</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2023</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MultiMedAI</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Multimodal Hybrid System</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dirty="0">
                          <a:solidFill>
                            <a:schemeClr val="tx2"/>
                          </a:solidFill>
                          <a:effectLst/>
                          <a:latin typeface="Century" panose="02040604050505020304" pitchFamily="18" charset="0"/>
                        </a:rPr>
                        <a:t>94% accuracy</a:t>
                      </a:r>
                      <a:endParaRPr lang="en-US" sz="1200" dirty="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21794248"/>
                  </a:ext>
                </a:extLst>
              </a:tr>
              <a:tr h="306869">
                <a:tc>
                  <a:txBody>
                    <a:bodyPr/>
                    <a:lstStyle/>
                    <a:p>
                      <a:pPr algn="just" rtl="0" fontAlgn="t">
                        <a:buNone/>
                      </a:pPr>
                      <a:r>
                        <a:rPr lang="en-US" sz="1200" b="0" i="0" u="none" strike="noStrike">
                          <a:solidFill>
                            <a:schemeClr val="tx2"/>
                          </a:solidFill>
                          <a:effectLst/>
                          <a:latin typeface="Century" panose="02040604050505020304" pitchFamily="18" charset="0"/>
                        </a:rPr>
                        <a:t>Lee et al. </a:t>
                      </a:r>
                      <a:r>
                        <a:rPr lang="en-US" sz="1200" b="1" i="0" u="none" strike="noStrike">
                          <a:solidFill>
                            <a:schemeClr val="tx2"/>
                          </a:solidFill>
                          <a:effectLst/>
                          <a:latin typeface="Century" panose="02040604050505020304" pitchFamily="18" charset="0"/>
                        </a:rPr>
                        <a:t>[39]</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2020</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Medical AI Evaluation Framework</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Multi-metric evaluation</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dirty="0">
                          <a:solidFill>
                            <a:schemeClr val="tx2"/>
                          </a:solidFill>
                          <a:effectLst/>
                          <a:latin typeface="Century" panose="02040604050505020304" pitchFamily="18" charset="0"/>
                        </a:rPr>
                        <a:t>Accuracy alone insufficient</a:t>
                      </a:r>
                      <a:endParaRPr lang="en-US" sz="1200" dirty="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36802472"/>
                  </a:ext>
                </a:extLst>
              </a:tr>
              <a:tr h="238194">
                <a:tc>
                  <a:txBody>
                    <a:bodyPr/>
                    <a:lstStyle/>
                    <a:p>
                      <a:pPr algn="just" rtl="0" fontAlgn="t">
                        <a:buNone/>
                      </a:pPr>
                      <a:r>
                        <a:rPr lang="en-US" sz="1200" b="0" i="0" u="none" strike="noStrike">
                          <a:solidFill>
                            <a:schemeClr val="tx2"/>
                          </a:solidFill>
                          <a:effectLst/>
                          <a:latin typeface="Century" panose="02040604050505020304" pitchFamily="18" charset="0"/>
                        </a:rPr>
                        <a:t>Char et al. </a:t>
                      </a:r>
                      <a:r>
                        <a:rPr lang="en-US" sz="1200" b="1" i="0" u="none" strike="noStrike">
                          <a:solidFill>
                            <a:schemeClr val="tx2"/>
                          </a:solidFill>
                          <a:effectLst/>
                          <a:latin typeface="Century" panose="02040604050505020304" pitchFamily="18" charset="0"/>
                        </a:rPr>
                        <a:t>[46]</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2018</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Ethics in Medical AI</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Ethical analysis</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dirty="0">
                          <a:solidFill>
                            <a:schemeClr val="tx2"/>
                          </a:solidFill>
                          <a:effectLst/>
                          <a:latin typeface="Century" panose="02040604050505020304" pitchFamily="18" charset="0"/>
                        </a:rPr>
                        <a:t>Exposed fairness risks</a:t>
                      </a:r>
                      <a:endParaRPr lang="en-US" sz="1200" dirty="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509278"/>
                  </a:ext>
                </a:extLst>
              </a:tr>
              <a:tr h="306869">
                <a:tc>
                  <a:txBody>
                    <a:bodyPr/>
                    <a:lstStyle/>
                    <a:p>
                      <a:pPr algn="just" rtl="0" fontAlgn="t">
                        <a:buNone/>
                      </a:pPr>
                      <a:r>
                        <a:rPr lang="en-US" sz="1200" b="0" i="0" u="none" strike="noStrike">
                          <a:solidFill>
                            <a:schemeClr val="tx2"/>
                          </a:solidFill>
                          <a:effectLst/>
                          <a:latin typeface="Century" panose="02040604050505020304" pitchFamily="18" charset="0"/>
                        </a:rPr>
                        <a:t>Rajkomar et al. </a:t>
                      </a:r>
                      <a:r>
                        <a:rPr lang="en-US" sz="1200" b="1" i="0" u="none" strike="noStrike">
                          <a:solidFill>
                            <a:schemeClr val="tx2"/>
                          </a:solidFill>
                          <a:effectLst/>
                          <a:latin typeface="Century" panose="02040604050505020304" pitchFamily="18" charset="0"/>
                        </a:rPr>
                        <a:t>[47]</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2019</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Health Equity in AI</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Bias mitigation framework</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dirty="0">
                          <a:solidFill>
                            <a:schemeClr val="tx2"/>
                          </a:solidFill>
                          <a:effectLst/>
                          <a:latin typeface="Century" panose="02040604050505020304" pitchFamily="18" charset="0"/>
                        </a:rPr>
                        <a:t>Reduced demographic bias</a:t>
                      </a:r>
                      <a:endParaRPr lang="en-US" sz="1200" dirty="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4448506"/>
                  </a:ext>
                </a:extLst>
              </a:tr>
              <a:tr h="238194">
                <a:tc>
                  <a:txBody>
                    <a:bodyPr/>
                    <a:lstStyle/>
                    <a:p>
                      <a:pPr algn="just" rtl="0" fontAlgn="t">
                        <a:buNone/>
                      </a:pPr>
                      <a:r>
                        <a:rPr lang="en-US" sz="1200" b="0" i="0" u="none" strike="noStrike">
                          <a:solidFill>
                            <a:schemeClr val="tx2"/>
                          </a:solidFill>
                          <a:effectLst/>
                          <a:latin typeface="Century" panose="02040604050505020304" pitchFamily="18" charset="0"/>
                        </a:rPr>
                        <a:t>FDA </a:t>
                      </a:r>
                      <a:r>
                        <a:rPr lang="en-US" sz="1200" b="1" i="0" u="none" strike="noStrike">
                          <a:solidFill>
                            <a:schemeClr val="tx2"/>
                          </a:solidFill>
                          <a:effectLst/>
                          <a:latin typeface="Century" panose="02040604050505020304" pitchFamily="18" charset="0"/>
                        </a:rPr>
                        <a:t>[43]</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2022</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SaMD Guidance</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chemeClr val="tx2"/>
                          </a:solidFill>
                          <a:effectLst/>
                          <a:latin typeface="Century" panose="02040604050505020304" pitchFamily="18" charset="0"/>
                        </a:rPr>
                        <a:t>Regulatory policy</a:t>
                      </a:r>
                      <a:endParaRPr lang="en-US" sz="120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it-IT" sz="1200" b="0" i="0" u="none" strike="noStrike" dirty="0">
                          <a:solidFill>
                            <a:schemeClr val="tx2"/>
                          </a:solidFill>
                          <a:effectLst/>
                          <a:latin typeface="Century" panose="02040604050505020304" pitchFamily="18" charset="0"/>
                        </a:rPr>
                        <a:t>Guidelines for AI in medicine</a:t>
                      </a:r>
                      <a:endParaRPr lang="it-IT" sz="1200" dirty="0">
                        <a:solidFill>
                          <a:schemeClr val="tx2"/>
                        </a:solidFill>
                        <a:effectLst/>
                      </a:endParaRPr>
                    </a:p>
                  </a:txBody>
                  <a:tcPr marL="24009" marR="24009" marT="24009" marB="2400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3223927"/>
                  </a:ext>
                </a:extLst>
              </a:tr>
            </a:tbl>
          </a:graphicData>
        </a:graphic>
      </p:graphicFrame>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5</a:t>
            </a:fld>
            <a:endParaRPr lang="en-US" dirty="0"/>
          </a:p>
        </p:txBody>
      </p:sp>
      <p:sp>
        <p:nvSpPr>
          <p:cNvPr id="6" name="Rectangle 1">
            <a:extLst>
              <a:ext uri="{FF2B5EF4-FFF2-40B4-BE49-F238E27FC236}">
                <a16:creationId xmlns:a16="http://schemas.microsoft.com/office/drawing/2014/main" id="{23BFD985-D6E3-2C8E-3687-04F9CE27505F}"/>
              </a:ext>
            </a:extLst>
          </p:cNvPr>
          <p:cNvSpPr>
            <a:spLocks noChangeArrowheads="1"/>
          </p:cNvSpPr>
          <p:nvPr/>
        </p:nvSpPr>
        <p:spPr bwMode="auto">
          <a:xfrm>
            <a:off x="-33071719" y="0"/>
            <a:ext cx="7779889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414697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Gap Analysis</a:t>
            </a:r>
            <a:endParaRPr lang="en-US" dirty="0">
              <a:solidFill>
                <a:srgbClr val="7030A0"/>
              </a:solidFill>
            </a:endParaRPr>
          </a:p>
        </p:txBody>
      </p:sp>
      <p:sp>
        <p:nvSpPr>
          <p:cNvPr id="3" name="Content Placeholder 2"/>
          <p:cNvSpPr>
            <a:spLocks noGrp="1"/>
          </p:cNvSpPr>
          <p:nvPr>
            <p:ph sz="quarter" idx="13"/>
          </p:nvPr>
        </p:nvSpPr>
        <p:spPr/>
        <p:txBody>
          <a:bodyPr>
            <a:normAutofit/>
          </a:bodyPr>
          <a:lstStyle/>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200" b="0" i="0" u="none" strike="noStrike" kern="1200" cap="none" spc="0" normalizeH="0" baseline="0" noProof="0" dirty="0">
                <a:ln>
                  <a:noFill/>
                </a:ln>
                <a:solidFill>
                  <a:srgbClr val="4F81BD">
                    <a:lumMod val="75000"/>
                  </a:srgbClr>
                </a:solidFill>
                <a:effectLst/>
                <a:uLnTx/>
                <a:uFillTx/>
                <a:latin typeface="Calibri"/>
                <a:ea typeface="+mn-ea"/>
                <a:cs typeface="+mn-cs"/>
              </a:rPr>
              <a:t>This project uniquely integrates symptom-based disease classification with a retrieval-augmented generation system grounded in authoritative medical knowledge, offering a unified chatbot that delivers both accurate diagnostic predictions and trusted, evidence-based medical information—addressing key gaps of existing solutions that typically handle these functions separately.</a:t>
            </a:r>
            <a:endParaRPr kumimoji="0" lang="en-US" sz="2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0" indent="0" algn="r">
              <a:buNone/>
            </a:pPr>
            <a:endParaRPr lang="en-US" sz="3000"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6</a:t>
            </a:fld>
            <a:endParaRPr lang="en-US" dirty="0"/>
          </a:p>
        </p:txBody>
      </p:sp>
    </p:spTree>
    <p:extLst>
      <p:ext uri="{BB962C8B-B14F-4D97-AF65-F5344CB8AC3E}">
        <p14:creationId xmlns:p14="http://schemas.microsoft.com/office/powerpoint/2010/main" val="825664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00F87-72F0-0B3B-9C0F-A3412ED7127A}"/>
              </a:ext>
            </a:extLst>
          </p:cNvPr>
          <p:cNvSpPr>
            <a:spLocks noGrp="1"/>
          </p:cNvSpPr>
          <p:nvPr>
            <p:ph type="title"/>
          </p:nvPr>
        </p:nvSpPr>
        <p:spPr>
          <a:xfrm>
            <a:off x="609600" y="76200"/>
            <a:ext cx="10972800" cy="944562"/>
          </a:xfrm>
        </p:spPr>
        <p:txBody>
          <a:bodyPr/>
          <a:lstStyle/>
          <a:p>
            <a:r>
              <a:rPr lang="en-US" dirty="0">
                <a:solidFill>
                  <a:srgbClr val="7030A0"/>
                </a:solidFill>
                <a:latin typeface="Times New Roman" pitchFamily="18" charset="0"/>
                <a:cs typeface="Times New Roman" pitchFamily="18" charset="0"/>
              </a:rPr>
              <a:t>Gap Analysis Continued</a:t>
            </a:r>
            <a:endParaRPr lang="en-US" dirty="0"/>
          </a:p>
        </p:txBody>
      </p:sp>
      <p:graphicFrame>
        <p:nvGraphicFramePr>
          <p:cNvPr id="5" name="Content Placeholder 4">
            <a:extLst>
              <a:ext uri="{FF2B5EF4-FFF2-40B4-BE49-F238E27FC236}">
                <a16:creationId xmlns:a16="http://schemas.microsoft.com/office/drawing/2014/main" id="{16ED9F39-CE97-6340-2D6F-BD39AD910129}"/>
              </a:ext>
            </a:extLst>
          </p:cNvPr>
          <p:cNvGraphicFramePr>
            <a:graphicFrameLocks noGrp="1"/>
          </p:cNvGraphicFramePr>
          <p:nvPr>
            <p:ph sz="quarter" idx="13"/>
            <p:extLst>
              <p:ext uri="{D42A27DB-BD31-4B8C-83A1-F6EECF244321}">
                <p14:modId xmlns:p14="http://schemas.microsoft.com/office/powerpoint/2010/main" val="55106744"/>
              </p:ext>
            </p:extLst>
          </p:nvPr>
        </p:nvGraphicFramePr>
        <p:xfrm>
          <a:off x="609600" y="1066800"/>
          <a:ext cx="10972799" cy="5203048"/>
        </p:xfrm>
        <a:graphic>
          <a:graphicData uri="http://schemas.openxmlformats.org/drawingml/2006/table">
            <a:tbl>
              <a:tblPr/>
              <a:tblGrid>
                <a:gridCol w="1776095">
                  <a:extLst>
                    <a:ext uri="{9D8B030D-6E8A-4147-A177-3AD203B41FA5}">
                      <a16:colId xmlns:a16="http://schemas.microsoft.com/office/drawing/2014/main" val="1141521518"/>
                    </a:ext>
                  </a:extLst>
                </a:gridCol>
                <a:gridCol w="1281843">
                  <a:extLst>
                    <a:ext uri="{9D8B030D-6E8A-4147-A177-3AD203B41FA5}">
                      <a16:colId xmlns:a16="http://schemas.microsoft.com/office/drawing/2014/main" val="611471908"/>
                    </a:ext>
                  </a:extLst>
                </a:gridCol>
                <a:gridCol w="1648082">
                  <a:extLst>
                    <a:ext uri="{9D8B030D-6E8A-4147-A177-3AD203B41FA5}">
                      <a16:colId xmlns:a16="http://schemas.microsoft.com/office/drawing/2014/main" val="3541539081"/>
                    </a:ext>
                  </a:extLst>
                </a:gridCol>
                <a:gridCol w="1383574">
                  <a:extLst>
                    <a:ext uri="{9D8B030D-6E8A-4147-A177-3AD203B41FA5}">
                      <a16:colId xmlns:a16="http://schemas.microsoft.com/office/drawing/2014/main" val="1560270608"/>
                    </a:ext>
                  </a:extLst>
                </a:gridCol>
                <a:gridCol w="1668428">
                  <a:extLst>
                    <a:ext uri="{9D8B030D-6E8A-4147-A177-3AD203B41FA5}">
                      <a16:colId xmlns:a16="http://schemas.microsoft.com/office/drawing/2014/main" val="3318057093"/>
                    </a:ext>
                  </a:extLst>
                </a:gridCol>
                <a:gridCol w="1139414">
                  <a:extLst>
                    <a:ext uri="{9D8B030D-6E8A-4147-A177-3AD203B41FA5}">
                      <a16:colId xmlns:a16="http://schemas.microsoft.com/office/drawing/2014/main" val="403903596"/>
                    </a:ext>
                  </a:extLst>
                </a:gridCol>
                <a:gridCol w="2075363">
                  <a:extLst>
                    <a:ext uri="{9D8B030D-6E8A-4147-A177-3AD203B41FA5}">
                      <a16:colId xmlns:a16="http://schemas.microsoft.com/office/drawing/2014/main" val="1256557489"/>
                    </a:ext>
                  </a:extLst>
                </a:gridCol>
              </a:tblGrid>
              <a:tr h="551455">
                <a:tc>
                  <a:txBody>
                    <a:bodyPr/>
                    <a:lstStyle/>
                    <a:p>
                      <a:pPr marL="63500" algn="ctr" rtl="0" fontAlgn="t">
                        <a:spcBef>
                          <a:spcPts val="5"/>
                        </a:spcBef>
                        <a:spcAft>
                          <a:spcPts val="1200"/>
                        </a:spcAft>
                        <a:buNone/>
                      </a:pPr>
                      <a:r>
                        <a:rPr lang="en-US" sz="1400" b="1" i="0" u="none" strike="noStrike">
                          <a:solidFill>
                            <a:srgbClr val="000000"/>
                          </a:solidFill>
                          <a:effectLst/>
                          <a:latin typeface="Century" panose="02040604050505020304" pitchFamily="18" charset="0"/>
                        </a:rPr>
                        <a:t>Feature</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algn="ctr" rtl="0" fontAlgn="t">
                        <a:spcBef>
                          <a:spcPts val="5"/>
                        </a:spcBef>
                        <a:spcAft>
                          <a:spcPts val="1200"/>
                        </a:spcAft>
                        <a:buNone/>
                      </a:pPr>
                      <a:r>
                        <a:rPr lang="en-US" sz="1400" b="1" i="0" u="none" strike="noStrike">
                          <a:solidFill>
                            <a:srgbClr val="000000"/>
                          </a:solidFill>
                          <a:effectLst/>
                          <a:latin typeface="Century" panose="02040604050505020304" pitchFamily="18" charset="0"/>
                        </a:rPr>
                        <a:t>Ada Health</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algn="ctr" rtl="0" fontAlgn="t">
                        <a:spcBef>
                          <a:spcPts val="5"/>
                        </a:spcBef>
                        <a:spcAft>
                          <a:spcPts val="1200"/>
                        </a:spcAft>
                        <a:buNone/>
                      </a:pPr>
                      <a:r>
                        <a:rPr lang="en-US" sz="1400" b="1" i="0" u="none" strike="noStrike">
                          <a:solidFill>
                            <a:srgbClr val="000000"/>
                          </a:solidFill>
                          <a:effectLst/>
                          <a:latin typeface="Century" panose="02040604050505020304" pitchFamily="18" charset="0"/>
                        </a:rPr>
                        <a:t>Babylon Health</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algn="ctr" rtl="0" fontAlgn="t">
                        <a:spcBef>
                          <a:spcPts val="5"/>
                        </a:spcBef>
                        <a:spcAft>
                          <a:spcPts val="1200"/>
                        </a:spcAft>
                        <a:buNone/>
                      </a:pPr>
                      <a:r>
                        <a:rPr lang="en-US" sz="1400" b="1" i="0" u="none" strike="noStrike" dirty="0">
                          <a:solidFill>
                            <a:srgbClr val="000000"/>
                          </a:solidFill>
                          <a:effectLst/>
                          <a:latin typeface="Century" panose="02040604050505020304" pitchFamily="18" charset="0"/>
                        </a:rPr>
                        <a:t>Buoy Health</a:t>
                      </a:r>
                      <a:endParaRPr lang="en-US" sz="3200" dirty="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algn="ctr" rtl="0" fontAlgn="t">
                        <a:spcBef>
                          <a:spcPts val="5"/>
                        </a:spcBef>
                        <a:spcAft>
                          <a:spcPts val="1200"/>
                        </a:spcAft>
                        <a:buNone/>
                      </a:pPr>
                      <a:r>
                        <a:rPr lang="en-US" sz="1400" b="1" i="0" u="none" strike="noStrike">
                          <a:solidFill>
                            <a:srgbClr val="000000"/>
                          </a:solidFill>
                          <a:effectLst/>
                          <a:latin typeface="Century" panose="02040604050505020304" pitchFamily="18" charset="0"/>
                        </a:rPr>
                        <a:t>WebMD Checker</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algn="ctr" rtl="0" fontAlgn="t">
                        <a:spcBef>
                          <a:spcPts val="5"/>
                        </a:spcBef>
                        <a:spcAft>
                          <a:spcPts val="1200"/>
                        </a:spcAft>
                        <a:buNone/>
                      </a:pPr>
                      <a:r>
                        <a:rPr lang="en-US" sz="1400" b="1" i="0" u="none" strike="noStrike">
                          <a:solidFill>
                            <a:srgbClr val="000000"/>
                          </a:solidFill>
                          <a:effectLst/>
                          <a:latin typeface="Century" panose="02040604050505020304" pitchFamily="18" charset="0"/>
                        </a:rPr>
                        <a:t>Healthily</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algn="ctr" rtl="0" fontAlgn="t">
                        <a:spcBef>
                          <a:spcPts val="5"/>
                        </a:spcBef>
                        <a:spcAft>
                          <a:spcPts val="1200"/>
                        </a:spcAft>
                        <a:buNone/>
                      </a:pPr>
                      <a:r>
                        <a:rPr lang="en-US" sz="1400" b="1" i="0" u="none" strike="noStrike">
                          <a:solidFill>
                            <a:srgbClr val="000000"/>
                          </a:solidFill>
                          <a:effectLst/>
                          <a:latin typeface="Century" panose="02040604050505020304" pitchFamily="18" charset="0"/>
                        </a:rPr>
                        <a:t>Proposed System</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40179924"/>
                  </a:ext>
                </a:extLst>
              </a:tr>
              <a:tr h="306364">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Free-text input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Partial</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Partial</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73084753"/>
                  </a:ext>
                </a:extLst>
              </a:tr>
              <a:tr h="306364">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Multi-algorithm ensemble</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3465649"/>
                  </a:ext>
                </a:extLst>
              </a:tr>
              <a:tr h="306364">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Confidence scores</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7956269"/>
                  </a:ext>
                </a:extLst>
              </a:tr>
              <a:tr h="306364">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Open-ended Q&amp;A</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dirty="0">
                          <a:solidFill>
                            <a:srgbClr val="000000"/>
                          </a:solidFill>
                          <a:effectLst/>
                          <a:latin typeface="Century" panose="02040604050505020304" pitchFamily="18" charset="0"/>
                        </a:rPr>
                        <a:t>Partial</a:t>
                      </a:r>
                      <a:endParaRPr lang="en-US" sz="3200" dirty="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Partial</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08239080"/>
                  </a:ext>
                </a:extLst>
              </a:tr>
              <a:tr h="434566">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Authoritative knowledge base</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Unknown</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Proprietary</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dirty="0">
                          <a:solidFill>
                            <a:srgbClr val="000000"/>
                          </a:solidFill>
                          <a:effectLst/>
                          <a:latin typeface="Century" panose="02040604050505020304" pitchFamily="18" charset="0"/>
                        </a:rPr>
                        <a:t>Unknown</a:t>
                      </a:r>
                      <a:endParaRPr lang="en-US" sz="3200" dirty="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Unknown</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 (Gale Encyclopedia)</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5773915"/>
                  </a:ext>
                </a:extLst>
              </a:tr>
              <a:tr h="416181">
                <a:tc>
                  <a:txBody>
                    <a:bodyPr/>
                    <a:lstStyle/>
                    <a:p>
                      <a:pPr marL="63500" rtl="0" fontAlgn="t">
                        <a:spcBef>
                          <a:spcPts val="5"/>
                        </a:spcBef>
                        <a:spcAft>
                          <a:spcPts val="1200"/>
                        </a:spcAft>
                        <a:buNone/>
                      </a:pPr>
                      <a:r>
                        <a:rPr lang="en-US" sz="1400" b="0" i="0" u="none" strike="noStrike" dirty="0">
                          <a:solidFill>
                            <a:srgbClr val="000000"/>
                          </a:solidFill>
                          <a:effectLst/>
                          <a:latin typeface="Century" panose="02040604050505020304" pitchFamily="18" charset="0"/>
                        </a:rPr>
                        <a:t>Source citation</a:t>
                      </a:r>
                      <a:endParaRPr lang="en-US" sz="3200" dirty="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dirty="0">
                          <a:solidFill>
                            <a:srgbClr val="000000"/>
                          </a:solidFill>
                          <a:effectLst/>
                          <a:latin typeface="Century" panose="02040604050505020304" pitchFamily="18" charset="0"/>
                        </a:rPr>
                        <a:t>✗</a:t>
                      </a:r>
                      <a:endParaRPr lang="en-US" sz="3200" dirty="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dirty="0">
                          <a:solidFill>
                            <a:srgbClr val="000000"/>
                          </a:solidFill>
                          <a:effectLst/>
                          <a:latin typeface="Century" panose="02040604050505020304" pitchFamily="18" charset="0"/>
                        </a:rPr>
                        <a:t>✗</a:t>
                      </a:r>
                      <a:endParaRPr lang="en-US" sz="3200" dirty="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dirty="0">
                          <a:solidFill>
                            <a:srgbClr val="000000"/>
                          </a:solidFill>
                          <a:effectLst/>
                          <a:latin typeface="Century" panose="02040604050505020304" pitchFamily="18" charset="0"/>
                        </a:rPr>
                        <a:t>✗</a:t>
                      </a:r>
                      <a:endParaRPr lang="en-US" sz="3200" dirty="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dirty="0">
                          <a:solidFill>
                            <a:srgbClr val="000000"/>
                          </a:solidFill>
                          <a:effectLst/>
                          <a:latin typeface="Century" panose="02040604050505020304" pitchFamily="18" charset="0"/>
                        </a:rPr>
                        <a:t>Partial</a:t>
                      </a:r>
                      <a:endParaRPr lang="en-US" sz="3200" dirty="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dirty="0">
                          <a:solidFill>
                            <a:srgbClr val="000000"/>
                          </a:solidFill>
                          <a:effectLst/>
                          <a:latin typeface="Century" panose="02040604050505020304" pitchFamily="18" charset="0"/>
                        </a:rPr>
                        <a:t>✗</a:t>
                      </a:r>
                      <a:endParaRPr lang="en-US" sz="3200" dirty="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dirty="0">
                          <a:solidFill>
                            <a:srgbClr val="000000"/>
                          </a:solidFill>
                          <a:effectLst/>
                          <a:latin typeface="Century" panose="02040604050505020304" pitchFamily="18" charset="0"/>
                        </a:rPr>
                        <a:t>✓</a:t>
                      </a:r>
                      <a:endParaRPr lang="en-US" sz="3200" dirty="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51238062"/>
                  </a:ext>
                </a:extLst>
              </a:tr>
              <a:tr h="434566">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Real-time performance (&lt;500ms)</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dirty="0">
                          <a:solidFill>
                            <a:srgbClr val="000000"/>
                          </a:solidFill>
                          <a:effectLst/>
                          <a:latin typeface="Century" panose="02040604050505020304" pitchFamily="18" charset="0"/>
                        </a:rPr>
                        <a:t>✓</a:t>
                      </a:r>
                      <a:endParaRPr lang="en-US" sz="3200" dirty="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dirty="0">
                          <a:solidFill>
                            <a:srgbClr val="000000"/>
                          </a:solidFill>
                          <a:effectLst/>
                          <a:latin typeface="Century" panose="02040604050505020304" pitchFamily="18" charset="0"/>
                        </a:rPr>
                        <a:t>✓</a:t>
                      </a:r>
                      <a:endParaRPr lang="en-US" sz="3200" dirty="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29202682"/>
                  </a:ext>
                </a:extLst>
              </a:tr>
              <a:tr h="306364">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Physician validation</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66464362"/>
                  </a:ext>
                </a:extLst>
              </a:tr>
              <a:tr h="434566">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Dual-mode consultation (ML + RAG)</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dirty="0">
                          <a:solidFill>
                            <a:srgbClr val="000000"/>
                          </a:solidFill>
                          <a:effectLst/>
                          <a:latin typeface="Century" panose="02040604050505020304" pitchFamily="18" charset="0"/>
                        </a:rPr>
                        <a:t>✗</a:t>
                      </a:r>
                      <a:endParaRPr lang="en-US" sz="3200" dirty="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5063675"/>
                  </a:ext>
                </a:extLst>
              </a:tr>
              <a:tr h="306364">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Interpretable decisions</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Partial</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Partial</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a:solidFill>
                            <a:srgbClr val="000000"/>
                          </a:solidFill>
                          <a:effectLst/>
                          <a:latin typeface="Century" panose="02040604050505020304" pitchFamily="18" charset="0"/>
                        </a:rPr>
                        <a:t>Partial</a:t>
                      </a:r>
                      <a:endParaRPr lang="en-US" sz="320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63500" rtl="0" fontAlgn="t">
                        <a:spcBef>
                          <a:spcPts val="5"/>
                        </a:spcBef>
                        <a:spcAft>
                          <a:spcPts val="1200"/>
                        </a:spcAft>
                        <a:buNone/>
                      </a:pPr>
                      <a:r>
                        <a:rPr lang="en-US" sz="1400" b="0" i="0" u="none" strike="noStrike" dirty="0">
                          <a:solidFill>
                            <a:srgbClr val="000000"/>
                          </a:solidFill>
                          <a:effectLst/>
                          <a:latin typeface="Century" panose="02040604050505020304" pitchFamily="18" charset="0"/>
                        </a:rPr>
                        <a:t>✓</a:t>
                      </a:r>
                      <a:endParaRPr lang="en-US" sz="3200" dirty="0">
                        <a:effectLst/>
                      </a:endParaRPr>
                    </a:p>
                  </a:txBody>
                  <a:tcPr marL="45734" marR="45734" marT="27440" marB="2744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21258955"/>
                  </a:ext>
                </a:extLst>
              </a:tr>
            </a:tbl>
          </a:graphicData>
        </a:graphic>
      </p:graphicFrame>
      <p:sp>
        <p:nvSpPr>
          <p:cNvPr id="4" name="Slide Number Placeholder 3">
            <a:extLst>
              <a:ext uri="{FF2B5EF4-FFF2-40B4-BE49-F238E27FC236}">
                <a16:creationId xmlns:a16="http://schemas.microsoft.com/office/drawing/2014/main" id="{69A2BB03-9C4E-BA7A-D392-935CC0AF6BA3}"/>
              </a:ext>
            </a:extLst>
          </p:cNvPr>
          <p:cNvSpPr>
            <a:spLocks noGrp="1"/>
          </p:cNvSpPr>
          <p:nvPr>
            <p:ph type="sldNum" sz="quarter" idx="16"/>
          </p:nvPr>
        </p:nvSpPr>
        <p:spPr/>
        <p:txBody>
          <a:bodyPr/>
          <a:lstStyle/>
          <a:p>
            <a:pPr>
              <a:defRPr/>
            </a:pPr>
            <a:fld id="{4CD333A3-7515-47B8-9EDC-EE0892D9C861}" type="slidenum">
              <a:rPr lang="en-US" smtClean="0"/>
              <a:pPr>
                <a:defRPr/>
              </a:pPr>
              <a:t>7</a:t>
            </a:fld>
            <a:endParaRPr lang="en-US"/>
          </a:p>
        </p:txBody>
      </p:sp>
      <p:sp>
        <p:nvSpPr>
          <p:cNvPr id="6" name="Rectangle 1">
            <a:extLst>
              <a:ext uri="{FF2B5EF4-FFF2-40B4-BE49-F238E27FC236}">
                <a16:creationId xmlns:a16="http://schemas.microsoft.com/office/drawing/2014/main" id="{D44FD1E5-2317-8595-4FE4-E15AAD4E36D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617591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09FE3-8C13-52FD-667D-F134506550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B6B137-3F2E-145A-EB16-D9D17EA25475}"/>
              </a:ext>
            </a:extLst>
          </p:cNvPr>
          <p:cNvSpPr>
            <a:spLocks noGrp="1"/>
          </p:cNvSpPr>
          <p:nvPr>
            <p:ph type="title"/>
          </p:nvPr>
        </p:nvSpPr>
        <p:spPr>
          <a:xfrm>
            <a:off x="1981200" y="152400"/>
            <a:ext cx="8229600" cy="868362"/>
          </a:xfrm>
        </p:spPr>
        <p:txBody>
          <a:bodyPr/>
          <a:lstStyle/>
          <a:p>
            <a:r>
              <a:rPr lang="en-US" dirty="0">
                <a:solidFill>
                  <a:srgbClr val="7030A0"/>
                </a:solidFill>
                <a:latin typeface="Times New Roman" pitchFamily="18" charset="0"/>
                <a:cs typeface="Times New Roman" pitchFamily="18" charset="0"/>
              </a:rPr>
              <a:t>Methodology</a:t>
            </a:r>
            <a:endParaRPr lang="en-US" dirty="0">
              <a:solidFill>
                <a:srgbClr val="7030A0"/>
              </a:solidFill>
            </a:endParaRPr>
          </a:p>
        </p:txBody>
      </p:sp>
      <p:sp>
        <p:nvSpPr>
          <p:cNvPr id="4" name="Slide Number Placeholder 3">
            <a:extLst>
              <a:ext uri="{FF2B5EF4-FFF2-40B4-BE49-F238E27FC236}">
                <a16:creationId xmlns:a16="http://schemas.microsoft.com/office/drawing/2014/main" id="{9B244379-4246-9E6A-21D3-60B85708B454}"/>
              </a:ext>
            </a:extLst>
          </p:cNvPr>
          <p:cNvSpPr>
            <a:spLocks noGrp="1"/>
          </p:cNvSpPr>
          <p:nvPr>
            <p:ph type="sldNum" sz="quarter" idx="16"/>
          </p:nvPr>
        </p:nvSpPr>
        <p:spPr/>
        <p:txBody>
          <a:bodyPr/>
          <a:lstStyle/>
          <a:p>
            <a:pPr>
              <a:defRPr/>
            </a:pPr>
            <a:fld id="{4CD333A3-7515-47B8-9EDC-EE0892D9C861}" type="slidenum">
              <a:rPr lang="en-US" smtClean="0"/>
              <a:pPr>
                <a:defRPr/>
              </a:pPr>
              <a:t>8</a:t>
            </a:fld>
            <a:endParaRPr lang="en-US" dirty="0"/>
          </a:p>
        </p:txBody>
      </p:sp>
      <p:pic>
        <p:nvPicPr>
          <p:cNvPr id="6" name="Content Placeholder 5">
            <a:extLst>
              <a:ext uri="{FF2B5EF4-FFF2-40B4-BE49-F238E27FC236}">
                <a16:creationId xmlns:a16="http://schemas.microsoft.com/office/drawing/2014/main" id="{EB52E6FB-E2F4-05E2-5CBD-02A67009993E}"/>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rcRect l="9539" t="10527" r="10526" b="11842"/>
          <a:stretch>
            <a:fillRect/>
          </a:stretch>
        </p:blipFill>
        <p:spPr>
          <a:xfrm>
            <a:off x="1872388" y="1020762"/>
            <a:ext cx="8871812" cy="4846638"/>
          </a:xfrm>
        </p:spPr>
      </p:pic>
      <p:sp>
        <p:nvSpPr>
          <p:cNvPr id="7" name="TextBox 6">
            <a:extLst>
              <a:ext uri="{FF2B5EF4-FFF2-40B4-BE49-F238E27FC236}">
                <a16:creationId xmlns:a16="http://schemas.microsoft.com/office/drawing/2014/main" id="{87BF1669-D24E-DE2A-CF48-1638131572CF}"/>
              </a:ext>
            </a:extLst>
          </p:cNvPr>
          <p:cNvSpPr txBox="1"/>
          <p:nvPr/>
        </p:nvSpPr>
        <p:spPr>
          <a:xfrm>
            <a:off x="4343400" y="5837238"/>
            <a:ext cx="4572000" cy="369332"/>
          </a:xfrm>
          <a:prstGeom prst="rect">
            <a:avLst/>
          </a:prstGeom>
          <a:noFill/>
        </p:spPr>
        <p:txBody>
          <a:bodyPr wrap="square" rtlCol="0">
            <a:spAutoFit/>
          </a:bodyPr>
          <a:lstStyle/>
          <a:p>
            <a:r>
              <a:rPr lang="en-US" dirty="0"/>
              <a:t>Fig: High Level System Architecture</a:t>
            </a:r>
          </a:p>
        </p:txBody>
      </p:sp>
    </p:spTree>
    <p:extLst>
      <p:ext uri="{BB962C8B-B14F-4D97-AF65-F5344CB8AC3E}">
        <p14:creationId xmlns:p14="http://schemas.microsoft.com/office/powerpoint/2010/main" val="623995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FF93F-EB13-C41E-A5F2-078B2C61758E}"/>
              </a:ext>
            </a:extLst>
          </p:cNvPr>
          <p:cNvSpPr>
            <a:spLocks noGrp="1"/>
          </p:cNvSpPr>
          <p:nvPr>
            <p:ph type="title"/>
          </p:nvPr>
        </p:nvSpPr>
        <p:spPr>
          <a:xfrm>
            <a:off x="609600" y="76200"/>
            <a:ext cx="10972800" cy="1143000"/>
          </a:xfrm>
        </p:spPr>
        <p:txBody>
          <a:bodyPr/>
          <a:lstStyle/>
          <a:p>
            <a:r>
              <a:rPr lang="en-US" dirty="0"/>
              <a:t>Data Flow Diagram</a:t>
            </a:r>
          </a:p>
        </p:txBody>
      </p:sp>
      <p:sp>
        <p:nvSpPr>
          <p:cNvPr id="4" name="Slide Number Placeholder 3">
            <a:extLst>
              <a:ext uri="{FF2B5EF4-FFF2-40B4-BE49-F238E27FC236}">
                <a16:creationId xmlns:a16="http://schemas.microsoft.com/office/drawing/2014/main" id="{6EAA09A1-E96F-27A5-EE55-86639763C37A}"/>
              </a:ext>
            </a:extLst>
          </p:cNvPr>
          <p:cNvSpPr>
            <a:spLocks noGrp="1"/>
          </p:cNvSpPr>
          <p:nvPr>
            <p:ph type="sldNum" sz="quarter" idx="16"/>
          </p:nvPr>
        </p:nvSpPr>
        <p:spPr/>
        <p:txBody>
          <a:bodyPr/>
          <a:lstStyle/>
          <a:p>
            <a:pPr>
              <a:defRPr/>
            </a:pPr>
            <a:fld id="{4CD333A3-7515-47B8-9EDC-EE0892D9C861}" type="slidenum">
              <a:rPr lang="en-US" smtClean="0"/>
              <a:pPr>
                <a:defRPr/>
              </a:pPr>
              <a:t>9</a:t>
            </a:fld>
            <a:endParaRPr lang="en-US"/>
          </a:p>
        </p:txBody>
      </p:sp>
      <p:pic>
        <p:nvPicPr>
          <p:cNvPr id="4098" name="Picture 2">
            <a:extLst>
              <a:ext uri="{FF2B5EF4-FFF2-40B4-BE49-F238E27FC236}">
                <a16:creationId xmlns:a16="http://schemas.microsoft.com/office/drawing/2014/main" id="{B7822728-D551-89C1-CB07-BD7ECBABF07C}"/>
              </a:ext>
            </a:extLst>
          </p:cNvPr>
          <p:cNvPicPr>
            <a:picLocks noGrp="1" noChangeAspect="1" noChangeArrowheads="1"/>
          </p:cNvPicPr>
          <p:nvPr>
            <p:ph sz="quarter" idx="13"/>
          </p:nvPr>
        </p:nvPicPr>
        <p:blipFill rotWithShape="1">
          <a:blip r:embed="rId2">
            <a:extLst>
              <a:ext uri="{28A0092B-C50C-407E-A947-70E740481C1C}">
                <a14:useLocalDpi xmlns:a14="http://schemas.microsoft.com/office/drawing/2010/main" val="0"/>
              </a:ext>
            </a:extLst>
          </a:blip>
          <a:srcRect t="5400" b="3628"/>
          <a:stretch>
            <a:fillRect/>
          </a:stretch>
        </p:blipFill>
        <p:spPr bwMode="auto">
          <a:xfrm>
            <a:off x="2570518" y="990600"/>
            <a:ext cx="7562812" cy="51514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132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C743B-5FB0-6FF9-E04C-D8C6271B75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9E29EE-3783-F9A1-B8F4-3D8A34B989AA}"/>
              </a:ext>
            </a:extLst>
          </p:cNvPr>
          <p:cNvSpPr>
            <a:spLocks noGrp="1"/>
          </p:cNvSpPr>
          <p:nvPr>
            <p:ph type="title"/>
          </p:nvPr>
        </p:nvSpPr>
        <p:spPr/>
        <p:txBody>
          <a:bodyPr/>
          <a:lstStyle/>
          <a:p>
            <a:r>
              <a:rPr lang="en-US" dirty="0"/>
              <a:t>Dataset Information</a:t>
            </a:r>
          </a:p>
        </p:txBody>
      </p:sp>
      <p:sp>
        <p:nvSpPr>
          <p:cNvPr id="3" name="Content Placeholder 2">
            <a:extLst>
              <a:ext uri="{FF2B5EF4-FFF2-40B4-BE49-F238E27FC236}">
                <a16:creationId xmlns:a16="http://schemas.microsoft.com/office/drawing/2014/main" id="{5951FA25-30AD-0234-4225-9A2FF70142A6}"/>
              </a:ext>
            </a:extLst>
          </p:cNvPr>
          <p:cNvSpPr>
            <a:spLocks noGrp="1"/>
          </p:cNvSpPr>
          <p:nvPr>
            <p:ph sz="quarter" idx="13"/>
          </p:nvPr>
        </p:nvSpPr>
        <p:spPr>
          <a:xfrm>
            <a:off x="609600" y="1417638"/>
            <a:ext cx="10972800" cy="4678362"/>
          </a:xfrm>
        </p:spPr>
        <p:txBody>
          <a:bodyPr>
            <a:normAutofit fontScale="85000" lnSpcReduction="20000"/>
          </a:bodyPr>
          <a:lstStyle/>
          <a:p>
            <a:pPr marL="0" indent="0">
              <a:buNone/>
            </a:pPr>
            <a:r>
              <a:rPr lang="en-US" sz="2900" dirty="0"/>
              <a:t>We used two primary data sources: the Symptom2Disease dataset for ML training and the Gale Encyclopedia of Medicine for RAG knowledge retrieval.</a:t>
            </a:r>
          </a:p>
          <a:p>
            <a:pPr marL="0" indent="0">
              <a:buNone/>
            </a:pPr>
            <a:endParaRPr lang="en-US" sz="2200" dirty="0"/>
          </a:p>
          <a:p>
            <a:pPr marL="25400" indent="0">
              <a:buNone/>
            </a:pPr>
            <a:r>
              <a:rPr lang="en-US" sz="2300" b="1" dirty="0"/>
              <a:t>1. Symptom-to-Disease Dataset</a:t>
            </a:r>
            <a:endParaRPr lang="en-US" sz="2300" dirty="0"/>
          </a:p>
          <a:p>
            <a:pPr marL="482600" lvl="1" indent="0">
              <a:buNone/>
            </a:pPr>
            <a:r>
              <a:rPr lang="en-US" sz="2300" b="1" dirty="0"/>
              <a:t>Format:</a:t>
            </a:r>
            <a:r>
              <a:rPr lang="en-US" sz="2300" dirty="0"/>
              <a:t> CSV</a:t>
            </a:r>
          </a:p>
          <a:p>
            <a:pPr marL="482600" lvl="1" indent="0">
              <a:buNone/>
            </a:pPr>
            <a:r>
              <a:rPr lang="en-US" sz="2300" b="1" dirty="0"/>
              <a:t>Size:</a:t>
            </a:r>
            <a:r>
              <a:rPr lang="en-US" sz="2300" dirty="0"/>
              <a:t> 1,200 entries</a:t>
            </a:r>
          </a:p>
          <a:p>
            <a:pPr marL="482600" lvl="1" indent="0">
              <a:buNone/>
            </a:pPr>
            <a:r>
              <a:rPr lang="en-US" sz="2300" b="1" dirty="0"/>
              <a:t>Classes:</a:t>
            </a:r>
            <a:r>
              <a:rPr lang="en-US" sz="2300" dirty="0"/>
              <a:t> 24 disease categories</a:t>
            </a:r>
          </a:p>
          <a:p>
            <a:pPr marL="482600" lvl="1" indent="0">
              <a:buNone/>
            </a:pPr>
            <a:r>
              <a:rPr lang="en-US" sz="2300" b="1" dirty="0"/>
              <a:t>Content:</a:t>
            </a:r>
            <a:r>
              <a:rPr lang="en-US" sz="2300" dirty="0"/>
              <a:t> Symptom descriptions mapped to corresponding disease labels</a:t>
            </a:r>
          </a:p>
          <a:p>
            <a:pPr marL="25400" indent="0">
              <a:buNone/>
            </a:pPr>
            <a:endParaRPr lang="en-US" sz="2300" b="1" dirty="0"/>
          </a:p>
          <a:p>
            <a:pPr marL="25400" indent="0">
              <a:buNone/>
            </a:pPr>
            <a:endParaRPr lang="en-US" sz="2300" b="1" dirty="0"/>
          </a:p>
          <a:p>
            <a:pPr marL="25400" indent="0">
              <a:buNone/>
            </a:pPr>
            <a:endParaRPr lang="en-US" sz="2300" b="1" dirty="0"/>
          </a:p>
          <a:p>
            <a:pPr marL="25400" indent="0">
              <a:buNone/>
            </a:pPr>
            <a:r>
              <a:rPr lang="en-US" sz="2300" b="1" dirty="0"/>
              <a:t>2. Knowledge Base Dataset</a:t>
            </a:r>
            <a:endParaRPr lang="en-US" sz="2300" dirty="0"/>
          </a:p>
          <a:p>
            <a:pPr marL="482600" lvl="1" indent="0">
              <a:buNone/>
            </a:pPr>
            <a:r>
              <a:rPr lang="en-US" sz="2300" b="1" dirty="0"/>
              <a:t>Source:</a:t>
            </a:r>
            <a:r>
              <a:rPr lang="en-US" sz="2300" dirty="0"/>
              <a:t> Gale Encyclopedia of Medicine 3</a:t>
            </a:r>
            <a:r>
              <a:rPr lang="en-US" sz="2300" baseline="30000" dirty="0"/>
              <a:t>rd</a:t>
            </a:r>
            <a:r>
              <a:rPr lang="en-US" sz="2300" dirty="0"/>
              <a:t> Edition</a:t>
            </a:r>
          </a:p>
          <a:p>
            <a:pPr marL="482600" lvl="1" indent="0">
              <a:buNone/>
            </a:pPr>
            <a:r>
              <a:rPr lang="en-US" sz="2300" b="1" dirty="0"/>
              <a:t>Format:</a:t>
            </a:r>
            <a:r>
              <a:rPr lang="en-US" sz="2300" dirty="0"/>
              <a:t> PDF (4,505 pages)</a:t>
            </a:r>
          </a:p>
          <a:p>
            <a:pPr marL="482600" lvl="1" indent="0">
              <a:buNone/>
            </a:pPr>
            <a:r>
              <a:rPr lang="en-US" sz="2300" b="1" dirty="0"/>
              <a:t>Purpose:</a:t>
            </a:r>
            <a:r>
              <a:rPr lang="en-US" sz="2300" dirty="0"/>
              <a:t> Knowledge retrieval in RAG pipeline</a:t>
            </a:r>
          </a:p>
        </p:txBody>
      </p:sp>
      <p:sp>
        <p:nvSpPr>
          <p:cNvPr id="4" name="Slide Number Placeholder 3">
            <a:extLst>
              <a:ext uri="{FF2B5EF4-FFF2-40B4-BE49-F238E27FC236}">
                <a16:creationId xmlns:a16="http://schemas.microsoft.com/office/drawing/2014/main" id="{2552D89B-5E44-FA03-6135-48A64D5FB196}"/>
              </a:ext>
            </a:extLst>
          </p:cNvPr>
          <p:cNvSpPr>
            <a:spLocks noGrp="1"/>
          </p:cNvSpPr>
          <p:nvPr>
            <p:ph type="sldNum" sz="quarter" idx="16"/>
          </p:nvPr>
        </p:nvSpPr>
        <p:spPr/>
        <p:txBody>
          <a:bodyPr/>
          <a:lstStyle/>
          <a:p>
            <a:pPr>
              <a:defRPr/>
            </a:pPr>
            <a:fld id="{4CD333A3-7515-47B8-9EDC-EE0892D9C861}" type="slidenum">
              <a:rPr lang="en-US" smtClean="0"/>
              <a:pPr>
                <a:defRPr/>
              </a:pPr>
              <a:t>10</a:t>
            </a:fld>
            <a:endParaRPr lang="en-US"/>
          </a:p>
        </p:txBody>
      </p:sp>
      <p:pic>
        <p:nvPicPr>
          <p:cNvPr id="6" name="Picture 5" descr="A screenshot of a computer&#10;&#10;AI-generated content may be incorrect.">
            <a:extLst>
              <a:ext uri="{FF2B5EF4-FFF2-40B4-BE49-F238E27FC236}">
                <a16:creationId xmlns:a16="http://schemas.microsoft.com/office/drawing/2014/main" id="{86A224AA-B2A4-519F-B890-A467CE394561}"/>
              </a:ext>
            </a:extLst>
          </p:cNvPr>
          <p:cNvPicPr>
            <a:picLocks noChangeAspect="1"/>
          </p:cNvPicPr>
          <p:nvPr/>
        </p:nvPicPr>
        <p:blipFill>
          <a:blip r:embed="rId2"/>
          <a:stretch>
            <a:fillRect/>
          </a:stretch>
        </p:blipFill>
        <p:spPr>
          <a:xfrm>
            <a:off x="1600200" y="3962400"/>
            <a:ext cx="7830643" cy="790685"/>
          </a:xfrm>
          <a:prstGeom prst="rect">
            <a:avLst/>
          </a:prstGeom>
        </p:spPr>
      </p:pic>
    </p:spTree>
    <p:extLst>
      <p:ext uri="{BB962C8B-B14F-4D97-AF65-F5344CB8AC3E}">
        <p14:creationId xmlns:p14="http://schemas.microsoft.com/office/powerpoint/2010/main" val="319979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D85B6-FE92-0D84-E3C5-011FAA209C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F5007-0E9A-77F3-B262-81E0BF29604E}"/>
              </a:ext>
            </a:extLst>
          </p:cNvPr>
          <p:cNvSpPr>
            <a:spLocks noGrp="1"/>
          </p:cNvSpPr>
          <p:nvPr>
            <p:ph type="title"/>
          </p:nvPr>
        </p:nvSpPr>
        <p:spPr/>
        <p:txBody>
          <a:bodyPr>
            <a:normAutofit/>
          </a:bodyPr>
          <a:lstStyle/>
          <a:p>
            <a:r>
              <a:rPr lang="en-US" dirty="0"/>
              <a:t>Data Preprocessing </a:t>
            </a:r>
          </a:p>
        </p:txBody>
      </p:sp>
      <p:sp>
        <p:nvSpPr>
          <p:cNvPr id="4" name="Slide Number Placeholder 3">
            <a:extLst>
              <a:ext uri="{FF2B5EF4-FFF2-40B4-BE49-F238E27FC236}">
                <a16:creationId xmlns:a16="http://schemas.microsoft.com/office/drawing/2014/main" id="{30690704-966D-4365-0FE7-F28C5676E869}"/>
              </a:ext>
            </a:extLst>
          </p:cNvPr>
          <p:cNvSpPr>
            <a:spLocks noGrp="1"/>
          </p:cNvSpPr>
          <p:nvPr>
            <p:ph type="sldNum" sz="quarter" idx="16"/>
          </p:nvPr>
        </p:nvSpPr>
        <p:spPr/>
        <p:txBody>
          <a:bodyPr/>
          <a:lstStyle/>
          <a:p>
            <a:pPr>
              <a:defRPr/>
            </a:pPr>
            <a:fld id="{4CD333A3-7515-47B8-9EDC-EE0892D9C861}" type="slidenum">
              <a:rPr lang="en-US" smtClean="0"/>
              <a:pPr>
                <a:defRPr/>
              </a:pPr>
              <a:t>11</a:t>
            </a:fld>
            <a:endParaRPr lang="en-US"/>
          </a:p>
        </p:txBody>
      </p:sp>
      <p:grpSp>
        <p:nvGrpSpPr>
          <p:cNvPr id="31" name="Group 30">
            <a:extLst>
              <a:ext uri="{FF2B5EF4-FFF2-40B4-BE49-F238E27FC236}">
                <a16:creationId xmlns:a16="http://schemas.microsoft.com/office/drawing/2014/main" id="{0C1B3F98-7930-9359-F8E3-61DC6660499A}"/>
              </a:ext>
            </a:extLst>
          </p:cNvPr>
          <p:cNvGrpSpPr/>
          <p:nvPr/>
        </p:nvGrpSpPr>
        <p:grpSpPr>
          <a:xfrm>
            <a:off x="762000" y="2590800"/>
            <a:ext cx="10287000" cy="1403351"/>
            <a:chOff x="762000" y="3124200"/>
            <a:chExt cx="10287000" cy="1403351"/>
          </a:xfrm>
        </p:grpSpPr>
        <p:sp>
          <p:nvSpPr>
            <p:cNvPr id="7" name="Rectangle 6">
              <a:extLst>
                <a:ext uri="{FF2B5EF4-FFF2-40B4-BE49-F238E27FC236}">
                  <a16:creationId xmlns:a16="http://schemas.microsoft.com/office/drawing/2014/main" id="{02B641DC-94B0-6CE7-A6D1-0F93984B2BEC}"/>
                </a:ext>
              </a:extLst>
            </p:cNvPr>
            <p:cNvSpPr/>
            <p:nvPr/>
          </p:nvSpPr>
          <p:spPr>
            <a:xfrm>
              <a:off x="762000" y="3124200"/>
              <a:ext cx="1676400"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Raw Text</a:t>
              </a:r>
            </a:p>
          </p:txBody>
        </p:sp>
        <p:sp>
          <p:nvSpPr>
            <p:cNvPr id="8" name="Rectangle 7">
              <a:extLst>
                <a:ext uri="{FF2B5EF4-FFF2-40B4-BE49-F238E27FC236}">
                  <a16:creationId xmlns:a16="http://schemas.microsoft.com/office/drawing/2014/main" id="{85156776-B6E4-C90D-9FCA-307B4E2951B4}"/>
                </a:ext>
              </a:extLst>
            </p:cNvPr>
            <p:cNvSpPr/>
            <p:nvPr/>
          </p:nvSpPr>
          <p:spPr>
            <a:xfrm>
              <a:off x="2895600" y="3124200"/>
              <a:ext cx="1676400"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Clean</a:t>
              </a:r>
            </a:p>
          </p:txBody>
        </p:sp>
        <p:sp>
          <p:nvSpPr>
            <p:cNvPr id="9" name="Rectangle 8">
              <a:extLst>
                <a:ext uri="{FF2B5EF4-FFF2-40B4-BE49-F238E27FC236}">
                  <a16:creationId xmlns:a16="http://schemas.microsoft.com/office/drawing/2014/main" id="{23EF555A-DAC4-AEC2-7C54-D6A3794D284D}"/>
                </a:ext>
              </a:extLst>
            </p:cNvPr>
            <p:cNvSpPr/>
            <p:nvPr/>
          </p:nvSpPr>
          <p:spPr>
            <a:xfrm>
              <a:off x="5029200" y="3128211"/>
              <a:ext cx="1676400"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Spell Check</a:t>
              </a:r>
            </a:p>
          </p:txBody>
        </p:sp>
        <p:sp>
          <p:nvSpPr>
            <p:cNvPr id="10" name="Rectangle 9">
              <a:extLst>
                <a:ext uri="{FF2B5EF4-FFF2-40B4-BE49-F238E27FC236}">
                  <a16:creationId xmlns:a16="http://schemas.microsoft.com/office/drawing/2014/main" id="{58A6AD2E-121C-037B-3092-F050570A60EB}"/>
                </a:ext>
              </a:extLst>
            </p:cNvPr>
            <p:cNvSpPr/>
            <p:nvPr/>
          </p:nvSpPr>
          <p:spPr>
            <a:xfrm>
              <a:off x="7218947" y="3124200"/>
              <a:ext cx="1676400"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Stopwords</a:t>
              </a:r>
              <a:endParaRPr lang="en-US" dirty="0"/>
            </a:p>
          </p:txBody>
        </p:sp>
        <p:sp>
          <p:nvSpPr>
            <p:cNvPr id="11" name="Rectangle 10">
              <a:extLst>
                <a:ext uri="{FF2B5EF4-FFF2-40B4-BE49-F238E27FC236}">
                  <a16:creationId xmlns:a16="http://schemas.microsoft.com/office/drawing/2014/main" id="{76B31F95-81AE-59AA-8E25-FF90EC96D29D}"/>
                </a:ext>
              </a:extLst>
            </p:cNvPr>
            <p:cNvSpPr/>
            <p:nvPr/>
          </p:nvSpPr>
          <p:spPr>
            <a:xfrm>
              <a:off x="9372600" y="3124200"/>
              <a:ext cx="1676400"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Lemmatize</a:t>
              </a:r>
            </a:p>
          </p:txBody>
        </p:sp>
        <p:sp>
          <p:nvSpPr>
            <p:cNvPr id="12" name="Rectangle 11">
              <a:extLst>
                <a:ext uri="{FF2B5EF4-FFF2-40B4-BE49-F238E27FC236}">
                  <a16:creationId xmlns:a16="http://schemas.microsoft.com/office/drawing/2014/main" id="{1DE5B786-93B5-9691-3627-9FD2D1A5282D}"/>
                </a:ext>
              </a:extLst>
            </p:cNvPr>
            <p:cNvSpPr/>
            <p:nvPr/>
          </p:nvSpPr>
          <p:spPr>
            <a:xfrm>
              <a:off x="9372600" y="4038600"/>
              <a:ext cx="1676400"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TF-IDF</a:t>
              </a:r>
            </a:p>
          </p:txBody>
        </p:sp>
        <p:sp>
          <p:nvSpPr>
            <p:cNvPr id="17" name="Rectangle 16">
              <a:extLst>
                <a:ext uri="{FF2B5EF4-FFF2-40B4-BE49-F238E27FC236}">
                  <a16:creationId xmlns:a16="http://schemas.microsoft.com/office/drawing/2014/main" id="{8697ADF7-F6E7-7AD5-07FE-8068015F0525}"/>
                </a:ext>
              </a:extLst>
            </p:cNvPr>
            <p:cNvSpPr/>
            <p:nvPr/>
          </p:nvSpPr>
          <p:spPr>
            <a:xfrm>
              <a:off x="6922167" y="4070351"/>
              <a:ext cx="1973179"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Feature Selection</a:t>
              </a:r>
            </a:p>
          </p:txBody>
        </p:sp>
        <p:sp>
          <p:nvSpPr>
            <p:cNvPr id="18" name="Rectangle 17">
              <a:extLst>
                <a:ext uri="{FF2B5EF4-FFF2-40B4-BE49-F238E27FC236}">
                  <a16:creationId xmlns:a16="http://schemas.microsoft.com/office/drawing/2014/main" id="{37289FE9-9270-84F9-15CE-2633A711EE39}"/>
                </a:ext>
              </a:extLst>
            </p:cNvPr>
            <p:cNvSpPr/>
            <p:nvPr/>
          </p:nvSpPr>
          <p:spPr>
            <a:xfrm>
              <a:off x="4709670" y="4060657"/>
              <a:ext cx="1636294"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Scaling</a:t>
              </a:r>
            </a:p>
          </p:txBody>
        </p:sp>
        <p:sp>
          <p:nvSpPr>
            <p:cNvPr id="19" name="Rectangle 18">
              <a:extLst>
                <a:ext uri="{FF2B5EF4-FFF2-40B4-BE49-F238E27FC236}">
                  <a16:creationId xmlns:a16="http://schemas.microsoft.com/office/drawing/2014/main" id="{20742F0E-889D-FA1D-E0C1-547449B0D5C0}"/>
                </a:ext>
              </a:extLst>
            </p:cNvPr>
            <p:cNvSpPr/>
            <p:nvPr/>
          </p:nvSpPr>
          <p:spPr>
            <a:xfrm>
              <a:off x="2252503" y="4038600"/>
              <a:ext cx="1973179"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ML-ready Data</a:t>
              </a:r>
            </a:p>
          </p:txBody>
        </p:sp>
        <p:sp>
          <p:nvSpPr>
            <p:cNvPr id="20" name="Arrow: Right 19">
              <a:extLst>
                <a:ext uri="{FF2B5EF4-FFF2-40B4-BE49-F238E27FC236}">
                  <a16:creationId xmlns:a16="http://schemas.microsoft.com/office/drawing/2014/main" id="{16DEE63C-0CAD-7A08-CF1A-27DED5829C56}"/>
                </a:ext>
              </a:extLst>
            </p:cNvPr>
            <p:cNvSpPr/>
            <p:nvPr/>
          </p:nvSpPr>
          <p:spPr>
            <a:xfrm flipH="1">
              <a:off x="8991600" y="4233111"/>
              <a:ext cx="291480" cy="1443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0441775E-6022-8F36-52B4-5ABC5D234CDB}"/>
                </a:ext>
              </a:extLst>
            </p:cNvPr>
            <p:cNvSpPr/>
            <p:nvPr/>
          </p:nvSpPr>
          <p:spPr>
            <a:xfrm rot="10800000" flipH="1">
              <a:off x="2521260" y="3284622"/>
              <a:ext cx="291480" cy="1443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D7F305C7-04A8-C6F4-D75A-F173FA421EE0}"/>
                </a:ext>
              </a:extLst>
            </p:cNvPr>
            <p:cNvSpPr/>
            <p:nvPr/>
          </p:nvSpPr>
          <p:spPr>
            <a:xfrm rot="10800000" flipH="1">
              <a:off x="4628792" y="3284622"/>
              <a:ext cx="291480" cy="1443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Right 24">
              <a:extLst>
                <a:ext uri="{FF2B5EF4-FFF2-40B4-BE49-F238E27FC236}">
                  <a16:creationId xmlns:a16="http://schemas.microsoft.com/office/drawing/2014/main" id="{C10AC87E-6B32-AEFC-772C-D2415F22880A}"/>
                </a:ext>
              </a:extLst>
            </p:cNvPr>
            <p:cNvSpPr/>
            <p:nvPr/>
          </p:nvSpPr>
          <p:spPr>
            <a:xfrm flipH="1">
              <a:off x="6488325" y="4226762"/>
              <a:ext cx="291480" cy="1443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row: Right 25">
              <a:extLst>
                <a:ext uri="{FF2B5EF4-FFF2-40B4-BE49-F238E27FC236}">
                  <a16:creationId xmlns:a16="http://schemas.microsoft.com/office/drawing/2014/main" id="{2C95FC4C-A525-8B67-7080-81394F518C0E}"/>
                </a:ext>
              </a:extLst>
            </p:cNvPr>
            <p:cNvSpPr/>
            <p:nvPr/>
          </p:nvSpPr>
          <p:spPr>
            <a:xfrm flipH="1">
              <a:off x="4315202" y="4195011"/>
              <a:ext cx="291480" cy="1443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Arrow: Right 26">
              <a:extLst>
                <a:ext uri="{FF2B5EF4-FFF2-40B4-BE49-F238E27FC236}">
                  <a16:creationId xmlns:a16="http://schemas.microsoft.com/office/drawing/2014/main" id="{F1E3152B-3E42-94AF-0766-E202673B2EFE}"/>
                </a:ext>
              </a:extLst>
            </p:cNvPr>
            <p:cNvSpPr/>
            <p:nvPr/>
          </p:nvSpPr>
          <p:spPr>
            <a:xfrm rot="10800000" flipH="1">
              <a:off x="6805789" y="3328696"/>
              <a:ext cx="291480" cy="1443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Right 28">
              <a:extLst>
                <a:ext uri="{FF2B5EF4-FFF2-40B4-BE49-F238E27FC236}">
                  <a16:creationId xmlns:a16="http://schemas.microsoft.com/office/drawing/2014/main" id="{A1133ADE-3071-58B5-9F81-6125F2B02B1E}"/>
                </a:ext>
              </a:extLst>
            </p:cNvPr>
            <p:cNvSpPr/>
            <p:nvPr/>
          </p:nvSpPr>
          <p:spPr>
            <a:xfrm rot="10800000" flipH="1">
              <a:off x="8991600" y="3316664"/>
              <a:ext cx="291480" cy="1443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Right 29">
              <a:extLst>
                <a:ext uri="{FF2B5EF4-FFF2-40B4-BE49-F238E27FC236}">
                  <a16:creationId xmlns:a16="http://schemas.microsoft.com/office/drawing/2014/main" id="{E9D8DA8F-CC96-B797-571E-9EAB890EE240}"/>
                </a:ext>
              </a:extLst>
            </p:cNvPr>
            <p:cNvSpPr/>
            <p:nvPr/>
          </p:nvSpPr>
          <p:spPr>
            <a:xfrm rot="16200000" flipH="1">
              <a:off x="10024954" y="3714392"/>
              <a:ext cx="291480" cy="1443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descr="A diagram of a data processing process&#10;&#10;AI-generated content may be incorrect.">
            <a:extLst>
              <a:ext uri="{FF2B5EF4-FFF2-40B4-BE49-F238E27FC236}">
                <a16:creationId xmlns:a16="http://schemas.microsoft.com/office/drawing/2014/main" id="{CEB71606-991B-8DAB-972B-F94B0C6BA4DD}"/>
              </a:ext>
            </a:extLst>
          </p:cNvPr>
          <p:cNvPicPr>
            <a:picLocks noChangeAspect="1"/>
          </p:cNvPicPr>
          <p:nvPr/>
        </p:nvPicPr>
        <p:blipFill>
          <a:blip r:embed="rId2"/>
          <a:srcRect r="4551"/>
          <a:stretch>
            <a:fillRect/>
          </a:stretch>
        </p:blipFill>
        <p:spPr>
          <a:xfrm>
            <a:off x="249964" y="1274913"/>
            <a:ext cx="11637236" cy="4524075"/>
          </a:xfrm>
          <a:prstGeom prst="rect">
            <a:avLst/>
          </a:prstGeom>
        </p:spPr>
      </p:pic>
    </p:spTree>
    <p:extLst>
      <p:ext uri="{BB962C8B-B14F-4D97-AF65-F5344CB8AC3E}">
        <p14:creationId xmlns:p14="http://schemas.microsoft.com/office/powerpoint/2010/main" val="1333801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E5C-71F2-3105-2435-0102C1334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611926-D2A5-F445-0117-A4074CC94842}"/>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BC820640-2CE5-2763-409D-C0C0D296CBCF}"/>
              </a:ext>
            </a:extLst>
          </p:cNvPr>
          <p:cNvSpPr>
            <a:spLocks noGrp="1"/>
          </p:cNvSpPr>
          <p:nvPr>
            <p:ph type="sldNum" sz="quarter" idx="16"/>
          </p:nvPr>
        </p:nvSpPr>
        <p:spPr/>
        <p:txBody>
          <a:bodyPr/>
          <a:lstStyle/>
          <a:p>
            <a:pPr>
              <a:defRPr/>
            </a:pPr>
            <a:fld id="{4CD333A3-7515-47B8-9EDC-EE0892D9C861}" type="slidenum">
              <a:rPr lang="en-US" smtClean="0"/>
              <a:pPr>
                <a:defRPr/>
              </a:pPr>
              <a:t>12</a:t>
            </a:fld>
            <a:endParaRPr lang="en-US" dirty="0"/>
          </a:p>
        </p:txBody>
      </p:sp>
      <p:sp>
        <p:nvSpPr>
          <p:cNvPr id="6" name="Rectangle 1">
            <a:extLst>
              <a:ext uri="{FF2B5EF4-FFF2-40B4-BE49-F238E27FC236}">
                <a16:creationId xmlns:a16="http://schemas.microsoft.com/office/drawing/2014/main" id="{4A1724B8-347B-15DD-8900-9D113E986AF2}"/>
              </a:ext>
            </a:extLst>
          </p:cNvPr>
          <p:cNvSpPr>
            <a:spLocks noChangeArrowheads="1"/>
          </p:cNvSpPr>
          <p:nvPr/>
        </p:nvSpPr>
        <p:spPr bwMode="auto">
          <a:xfrm>
            <a:off x="-3044190" y="-431325"/>
            <a:ext cx="28806386" cy="692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9" name="Content Placeholder 8">
            <a:extLst>
              <a:ext uri="{FF2B5EF4-FFF2-40B4-BE49-F238E27FC236}">
                <a16:creationId xmlns:a16="http://schemas.microsoft.com/office/drawing/2014/main" id="{93596A63-BCD5-D5D7-53B8-F8B4654C13C2}"/>
              </a:ext>
            </a:extLst>
          </p:cNvPr>
          <p:cNvGraphicFramePr>
            <a:graphicFrameLocks noGrp="1"/>
          </p:cNvGraphicFramePr>
          <p:nvPr>
            <p:ph sz="quarter" idx="13"/>
            <p:extLst>
              <p:ext uri="{D42A27DB-BD31-4B8C-83A1-F6EECF244321}">
                <p14:modId xmlns:p14="http://schemas.microsoft.com/office/powerpoint/2010/main" val="1107032252"/>
              </p:ext>
            </p:extLst>
          </p:nvPr>
        </p:nvGraphicFramePr>
        <p:xfrm>
          <a:off x="685800" y="1371600"/>
          <a:ext cx="10744201" cy="4724400"/>
        </p:xfrm>
        <a:graphic>
          <a:graphicData uri="http://schemas.openxmlformats.org/drawingml/2006/table">
            <a:tbl>
              <a:tblPr/>
              <a:tblGrid>
                <a:gridCol w="3418609">
                  <a:extLst>
                    <a:ext uri="{9D8B030D-6E8A-4147-A177-3AD203B41FA5}">
                      <a16:colId xmlns:a16="http://schemas.microsoft.com/office/drawing/2014/main" val="3139535411"/>
                    </a:ext>
                  </a:extLst>
                </a:gridCol>
                <a:gridCol w="1917316">
                  <a:extLst>
                    <a:ext uri="{9D8B030D-6E8A-4147-A177-3AD203B41FA5}">
                      <a16:colId xmlns:a16="http://schemas.microsoft.com/office/drawing/2014/main" val="2450862888"/>
                    </a:ext>
                  </a:extLst>
                </a:gridCol>
                <a:gridCol w="1863051">
                  <a:extLst>
                    <a:ext uri="{9D8B030D-6E8A-4147-A177-3AD203B41FA5}">
                      <a16:colId xmlns:a16="http://schemas.microsoft.com/office/drawing/2014/main" val="4263175468"/>
                    </a:ext>
                  </a:extLst>
                </a:gridCol>
                <a:gridCol w="1718349">
                  <a:extLst>
                    <a:ext uri="{9D8B030D-6E8A-4147-A177-3AD203B41FA5}">
                      <a16:colId xmlns:a16="http://schemas.microsoft.com/office/drawing/2014/main" val="129826453"/>
                    </a:ext>
                  </a:extLst>
                </a:gridCol>
                <a:gridCol w="1826876">
                  <a:extLst>
                    <a:ext uri="{9D8B030D-6E8A-4147-A177-3AD203B41FA5}">
                      <a16:colId xmlns:a16="http://schemas.microsoft.com/office/drawing/2014/main" val="2176086396"/>
                    </a:ext>
                  </a:extLst>
                </a:gridCol>
              </a:tblGrid>
              <a:tr h="590550">
                <a:tc>
                  <a:txBody>
                    <a:bodyPr/>
                    <a:lstStyle/>
                    <a:p>
                      <a:pPr algn="ctr" rtl="0" fontAlgn="t">
                        <a:buNone/>
                      </a:pPr>
                      <a:r>
                        <a:rPr lang="en-US" sz="2000" b="1" i="0" u="none" strike="noStrike" dirty="0">
                          <a:solidFill>
                            <a:schemeClr val="tx2"/>
                          </a:solidFill>
                          <a:effectLst/>
                          <a:latin typeface="Century" panose="02040604050505020304" pitchFamily="18" charset="0"/>
                        </a:rPr>
                        <a:t>Model</a:t>
                      </a:r>
                      <a:endParaRPr lang="en-US" sz="3600" dirty="0">
                        <a:solidFill>
                          <a:schemeClr val="tx2"/>
                        </a:solidFill>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1" i="0" u="none" strike="noStrike" dirty="0">
                          <a:solidFill>
                            <a:schemeClr val="tx2"/>
                          </a:solidFill>
                          <a:effectLst/>
                          <a:latin typeface="Century" panose="02040604050505020304" pitchFamily="18" charset="0"/>
                        </a:rPr>
                        <a:t>Accuracy</a:t>
                      </a:r>
                      <a:endParaRPr lang="en-US" sz="3600" dirty="0">
                        <a:solidFill>
                          <a:schemeClr val="tx2"/>
                        </a:solidFill>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1" i="0" u="none" strike="noStrike" dirty="0">
                          <a:solidFill>
                            <a:schemeClr val="tx2"/>
                          </a:solidFill>
                          <a:effectLst/>
                          <a:latin typeface="Century" panose="02040604050505020304" pitchFamily="18" charset="0"/>
                        </a:rPr>
                        <a:t>Precision</a:t>
                      </a:r>
                      <a:endParaRPr lang="en-US" sz="3600" dirty="0">
                        <a:solidFill>
                          <a:schemeClr val="tx2"/>
                        </a:solidFill>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1" i="0" u="none" strike="noStrike" dirty="0">
                          <a:solidFill>
                            <a:schemeClr val="tx2"/>
                          </a:solidFill>
                          <a:effectLst/>
                          <a:latin typeface="Century" panose="02040604050505020304" pitchFamily="18" charset="0"/>
                        </a:rPr>
                        <a:t>Recall</a:t>
                      </a:r>
                      <a:endParaRPr lang="en-US" sz="3600" dirty="0">
                        <a:solidFill>
                          <a:schemeClr val="tx2"/>
                        </a:solidFill>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1" i="0" u="none" strike="noStrike" dirty="0">
                          <a:solidFill>
                            <a:schemeClr val="tx2"/>
                          </a:solidFill>
                          <a:effectLst/>
                          <a:latin typeface="Century" panose="02040604050505020304" pitchFamily="18" charset="0"/>
                        </a:rPr>
                        <a:t>F1-Score</a:t>
                      </a:r>
                      <a:endParaRPr lang="en-US" sz="3600" dirty="0">
                        <a:solidFill>
                          <a:schemeClr val="tx2"/>
                        </a:solidFill>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67992322"/>
                  </a:ext>
                </a:extLst>
              </a:tr>
              <a:tr h="590550">
                <a:tc>
                  <a:txBody>
                    <a:bodyPr/>
                    <a:lstStyle/>
                    <a:p>
                      <a:pPr rtl="0" fontAlgn="t">
                        <a:buNone/>
                      </a:pPr>
                      <a:r>
                        <a:rPr lang="en-US" sz="2000" b="0" i="0" u="none" strike="noStrike">
                          <a:solidFill>
                            <a:srgbClr val="000000"/>
                          </a:solidFill>
                          <a:effectLst/>
                          <a:latin typeface="Century" panose="02040604050505020304" pitchFamily="18" charset="0"/>
                        </a:rPr>
                        <a:t>Naive Bayes</a:t>
                      </a:r>
                      <a:endParaRPr lang="en-US" sz="3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dirty="0">
                          <a:solidFill>
                            <a:srgbClr val="000000"/>
                          </a:solidFill>
                          <a:effectLst/>
                          <a:latin typeface="Century" panose="02040604050505020304" pitchFamily="18" charset="0"/>
                        </a:rPr>
                        <a:t>100.00%</a:t>
                      </a:r>
                      <a:endParaRPr lang="en-US" sz="3600" dirty="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Century" panose="02040604050505020304" pitchFamily="18" charset="0"/>
                        </a:rPr>
                        <a:t>100.00%</a:t>
                      </a:r>
                      <a:endParaRPr lang="en-US" sz="3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Century" panose="02040604050505020304" pitchFamily="18" charset="0"/>
                        </a:rPr>
                        <a:t>100.00%</a:t>
                      </a:r>
                      <a:endParaRPr lang="en-US" sz="3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dirty="0">
                          <a:solidFill>
                            <a:srgbClr val="000000"/>
                          </a:solidFill>
                          <a:effectLst/>
                          <a:latin typeface="Century" panose="02040604050505020304" pitchFamily="18" charset="0"/>
                        </a:rPr>
                        <a:t>100.00%</a:t>
                      </a:r>
                      <a:endParaRPr lang="en-US" sz="3600" dirty="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13835348"/>
                  </a:ext>
                </a:extLst>
              </a:tr>
              <a:tr h="590550">
                <a:tc>
                  <a:txBody>
                    <a:bodyPr/>
                    <a:lstStyle/>
                    <a:p>
                      <a:pPr rtl="0" fontAlgn="t">
                        <a:buNone/>
                      </a:pPr>
                      <a:r>
                        <a:rPr lang="en-US" sz="2000" b="0" i="0" u="none" strike="noStrike">
                          <a:solidFill>
                            <a:srgbClr val="000000"/>
                          </a:solidFill>
                          <a:effectLst/>
                          <a:latin typeface="Century" panose="02040604050505020304" pitchFamily="18" charset="0"/>
                        </a:rPr>
                        <a:t>Logistic Regression</a:t>
                      </a:r>
                      <a:endParaRPr lang="en-US" sz="3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dirty="0">
                          <a:solidFill>
                            <a:srgbClr val="000000"/>
                          </a:solidFill>
                          <a:effectLst/>
                          <a:latin typeface="Century" panose="02040604050505020304" pitchFamily="18" charset="0"/>
                        </a:rPr>
                        <a:t>99.58%</a:t>
                      </a:r>
                      <a:endParaRPr lang="en-US" sz="3600" dirty="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Century" panose="02040604050505020304" pitchFamily="18" charset="0"/>
                        </a:rPr>
                        <a:t>99.62%</a:t>
                      </a:r>
                      <a:endParaRPr lang="en-US" sz="3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Century" panose="02040604050505020304" pitchFamily="18" charset="0"/>
                        </a:rPr>
                        <a:t>99.58%</a:t>
                      </a:r>
                      <a:endParaRPr lang="en-US" sz="3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Century" panose="02040604050505020304" pitchFamily="18" charset="0"/>
                        </a:rPr>
                        <a:t>99.58%</a:t>
                      </a:r>
                      <a:endParaRPr lang="en-US" sz="3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71498598"/>
                  </a:ext>
                </a:extLst>
              </a:tr>
              <a:tr h="590550">
                <a:tc>
                  <a:txBody>
                    <a:bodyPr/>
                    <a:lstStyle/>
                    <a:p>
                      <a:pPr rtl="0" fontAlgn="t">
                        <a:buNone/>
                      </a:pPr>
                      <a:r>
                        <a:rPr lang="en-US" sz="2000" b="0" i="0" u="none" strike="noStrike">
                          <a:solidFill>
                            <a:srgbClr val="000000"/>
                          </a:solidFill>
                          <a:effectLst/>
                          <a:latin typeface="Century" panose="02040604050505020304" pitchFamily="18" charset="0"/>
                        </a:rPr>
                        <a:t>SVM (Linear)</a:t>
                      </a:r>
                      <a:endParaRPr lang="en-US" sz="3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Century" panose="02040604050505020304" pitchFamily="18" charset="0"/>
                        </a:rPr>
                        <a:t>99.58%</a:t>
                      </a:r>
                      <a:endParaRPr lang="en-US" sz="3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Century" panose="02040604050505020304" pitchFamily="18" charset="0"/>
                        </a:rPr>
                        <a:t>99.62%</a:t>
                      </a:r>
                      <a:endParaRPr lang="en-US" sz="3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Century" panose="02040604050505020304" pitchFamily="18" charset="0"/>
                        </a:rPr>
                        <a:t>99.58%</a:t>
                      </a:r>
                      <a:endParaRPr lang="en-US" sz="3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Century" panose="02040604050505020304" pitchFamily="18" charset="0"/>
                        </a:rPr>
                        <a:t>99.58%</a:t>
                      </a:r>
                      <a:endParaRPr lang="en-US" sz="3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67477200"/>
                  </a:ext>
                </a:extLst>
              </a:tr>
              <a:tr h="590550">
                <a:tc>
                  <a:txBody>
                    <a:bodyPr/>
                    <a:lstStyle/>
                    <a:p>
                      <a:pPr rtl="0" fontAlgn="t">
                        <a:buNone/>
                      </a:pPr>
                      <a:r>
                        <a:rPr lang="en-US" sz="2000" b="0" i="0" u="none" strike="noStrike">
                          <a:solidFill>
                            <a:srgbClr val="000000"/>
                          </a:solidFill>
                          <a:effectLst/>
                          <a:latin typeface="Century" panose="02040604050505020304" pitchFamily="18" charset="0"/>
                        </a:rPr>
                        <a:t>SVM (RBF)</a:t>
                      </a:r>
                      <a:endParaRPr lang="en-US" sz="3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Century" panose="02040604050505020304" pitchFamily="18" charset="0"/>
                        </a:rPr>
                        <a:t>99.58%</a:t>
                      </a:r>
                      <a:endParaRPr lang="en-US" sz="3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Century" panose="02040604050505020304" pitchFamily="18" charset="0"/>
                        </a:rPr>
                        <a:t>99.62%</a:t>
                      </a:r>
                      <a:endParaRPr lang="en-US" sz="3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Century" panose="02040604050505020304" pitchFamily="18" charset="0"/>
                        </a:rPr>
                        <a:t>99.58%</a:t>
                      </a:r>
                      <a:endParaRPr lang="en-US" sz="3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Century" panose="02040604050505020304" pitchFamily="18" charset="0"/>
                        </a:rPr>
                        <a:t>99.58%</a:t>
                      </a:r>
                      <a:endParaRPr lang="en-US" sz="3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87456030"/>
                  </a:ext>
                </a:extLst>
              </a:tr>
              <a:tr h="590550">
                <a:tc>
                  <a:txBody>
                    <a:bodyPr/>
                    <a:lstStyle/>
                    <a:p>
                      <a:pPr rtl="0" fontAlgn="t">
                        <a:buNone/>
                      </a:pPr>
                      <a:r>
                        <a:rPr lang="en-US" sz="2000" b="0" i="0" u="none" strike="noStrike" dirty="0">
                          <a:solidFill>
                            <a:srgbClr val="000000"/>
                          </a:solidFill>
                          <a:effectLst/>
                          <a:latin typeface="Century" panose="02040604050505020304" pitchFamily="18" charset="0"/>
                        </a:rPr>
                        <a:t>Random Forest</a:t>
                      </a:r>
                      <a:endParaRPr lang="en-US" sz="3600" dirty="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Century" panose="02040604050505020304" pitchFamily="18" charset="0"/>
                        </a:rPr>
                        <a:t>99.17%</a:t>
                      </a:r>
                      <a:endParaRPr lang="en-US" sz="3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Century" panose="02040604050505020304" pitchFamily="18" charset="0"/>
                        </a:rPr>
                        <a:t>99.17%</a:t>
                      </a:r>
                      <a:endParaRPr lang="en-US" sz="3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dirty="0">
                          <a:solidFill>
                            <a:srgbClr val="000000"/>
                          </a:solidFill>
                          <a:effectLst/>
                          <a:latin typeface="Century" panose="02040604050505020304" pitchFamily="18" charset="0"/>
                        </a:rPr>
                        <a:t>99.17%</a:t>
                      </a:r>
                      <a:endParaRPr lang="en-US" sz="3600" dirty="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Century" panose="02040604050505020304" pitchFamily="18" charset="0"/>
                        </a:rPr>
                        <a:t>99.17%</a:t>
                      </a:r>
                      <a:endParaRPr lang="en-US" sz="3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44259001"/>
                  </a:ext>
                </a:extLst>
              </a:tr>
              <a:tr h="590550">
                <a:tc>
                  <a:txBody>
                    <a:bodyPr/>
                    <a:lstStyle/>
                    <a:p>
                      <a:pPr rtl="0" fontAlgn="t">
                        <a:buNone/>
                      </a:pPr>
                      <a:r>
                        <a:rPr lang="en-US" sz="2000" b="1" i="0" u="none" strike="noStrike">
                          <a:solidFill>
                            <a:srgbClr val="000000"/>
                          </a:solidFill>
                          <a:effectLst/>
                          <a:latin typeface="Century" panose="02040604050505020304" pitchFamily="18" charset="0"/>
                        </a:rPr>
                        <a:t>Stacking Ensemble</a:t>
                      </a:r>
                      <a:endParaRPr lang="en-US" sz="3600" b="1">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1" i="0" u="none" strike="noStrike">
                          <a:solidFill>
                            <a:srgbClr val="000000"/>
                          </a:solidFill>
                          <a:effectLst/>
                          <a:latin typeface="Century" panose="02040604050505020304" pitchFamily="18" charset="0"/>
                        </a:rPr>
                        <a:t>98.33%</a:t>
                      </a:r>
                      <a:endParaRPr lang="en-US" sz="3600" b="1">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1" i="0" u="none" strike="noStrike">
                          <a:solidFill>
                            <a:srgbClr val="000000"/>
                          </a:solidFill>
                          <a:effectLst/>
                          <a:latin typeface="Century" panose="02040604050505020304" pitchFamily="18" charset="0"/>
                        </a:rPr>
                        <a:t>98.51%</a:t>
                      </a:r>
                      <a:endParaRPr lang="en-US" sz="3600" b="1">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1" i="0" u="none" strike="noStrike">
                          <a:solidFill>
                            <a:srgbClr val="000000"/>
                          </a:solidFill>
                          <a:effectLst/>
                          <a:latin typeface="Century" panose="02040604050505020304" pitchFamily="18" charset="0"/>
                        </a:rPr>
                        <a:t>98.33%</a:t>
                      </a:r>
                      <a:endParaRPr lang="en-US" sz="3600" b="1">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1" i="0" u="none" strike="noStrike" dirty="0">
                          <a:solidFill>
                            <a:srgbClr val="000000"/>
                          </a:solidFill>
                          <a:effectLst/>
                          <a:latin typeface="Century" panose="02040604050505020304" pitchFamily="18" charset="0"/>
                        </a:rPr>
                        <a:t>98.32%</a:t>
                      </a:r>
                      <a:endParaRPr lang="en-US" sz="3600" b="1" dirty="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4569092"/>
                  </a:ext>
                </a:extLst>
              </a:tr>
              <a:tr h="590550">
                <a:tc>
                  <a:txBody>
                    <a:bodyPr/>
                    <a:lstStyle/>
                    <a:p>
                      <a:pPr rtl="0" fontAlgn="t">
                        <a:buNone/>
                      </a:pPr>
                      <a:r>
                        <a:rPr lang="en-US" sz="2000" b="0" i="0" u="none" strike="noStrike">
                          <a:solidFill>
                            <a:srgbClr val="000000"/>
                          </a:solidFill>
                          <a:effectLst/>
                          <a:latin typeface="Century" panose="02040604050505020304" pitchFamily="18" charset="0"/>
                        </a:rPr>
                        <a:t>XGBoost</a:t>
                      </a:r>
                      <a:endParaRPr lang="en-US" sz="3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Century" panose="02040604050505020304" pitchFamily="18" charset="0"/>
                        </a:rPr>
                        <a:t>96.67%</a:t>
                      </a:r>
                      <a:endParaRPr lang="en-US" sz="3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dirty="0">
                          <a:solidFill>
                            <a:srgbClr val="000000"/>
                          </a:solidFill>
                          <a:effectLst/>
                          <a:latin typeface="Century" panose="02040604050505020304" pitchFamily="18" charset="0"/>
                        </a:rPr>
                        <a:t>97.06%</a:t>
                      </a:r>
                      <a:endParaRPr lang="en-US" sz="3600" dirty="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a:solidFill>
                            <a:srgbClr val="000000"/>
                          </a:solidFill>
                          <a:effectLst/>
                          <a:latin typeface="Century" panose="02040604050505020304" pitchFamily="18" charset="0"/>
                        </a:rPr>
                        <a:t>96.67%</a:t>
                      </a:r>
                      <a:endParaRPr lang="en-US" sz="3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2000" b="0" i="0" u="none" strike="noStrike" dirty="0">
                          <a:solidFill>
                            <a:srgbClr val="000000"/>
                          </a:solidFill>
                          <a:effectLst/>
                          <a:latin typeface="Century" panose="02040604050505020304" pitchFamily="18" charset="0"/>
                        </a:rPr>
                        <a:t>96.65%</a:t>
                      </a:r>
                      <a:endParaRPr lang="en-US" sz="3600" dirty="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98172262"/>
                  </a:ext>
                </a:extLst>
              </a:tr>
            </a:tbl>
          </a:graphicData>
        </a:graphic>
      </p:graphicFrame>
      <p:sp>
        <p:nvSpPr>
          <p:cNvPr id="10" name="Rectangle 2">
            <a:extLst>
              <a:ext uri="{FF2B5EF4-FFF2-40B4-BE49-F238E27FC236}">
                <a16:creationId xmlns:a16="http://schemas.microsoft.com/office/drawing/2014/main" id="{FA360EF8-1308-FB71-7E11-9D770B00B521}"/>
              </a:ext>
            </a:extLst>
          </p:cNvPr>
          <p:cNvSpPr>
            <a:spLocks noChangeArrowheads="1"/>
          </p:cNvSpPr>
          <p:nvPr/>
        </p:nvSpPr>
        <p:spPr bwMode="auto">
          <a:xfrm>
            <a:off x="-8476929" y="0"/>
            <a:ext cx="2894060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659567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8479B-61E6-563D-B03C-60DF55F9CBF8}"/>
              </a:ext>
            </a:extLst>
          </p:cNvPr>
          <p:cNvSpPr>
            <a:spLocks noGrp="1"/>
          </p:cNvSpPr>
          <p:nvPr>
            <p:ph type="title"/>
          </p:nvPr>
        </p:nvSpPr>
        <p:spPr>
          <a:xfrm>
            <a:off x="609600" y="0"/>
            <a:ext cx="10972800" cy="1143000"/>
          </a:xfrm>
        </p:spPr>
        <p:txBody>
          <a:bodyPr/>
          <a:lstStyle/>
          <a:p>
            <a:r>
              <a:rPr lang="en-US" dirty="0"/>
              <a:t>Confusion Matrix</a:t>
            </a:r>
          </a:p>
        </p:txBody>
      </p:sp>
      <p:pic>
        <p:nvPicPr>
          <p:cNvPr id="6" name="Content Placeholder 5">
            <a:extLst>
              <a:ext uri="{FF2B5EF4-FFF2-40B4-BE49-F238E27FC236}">
                <a16:creationId xmlns:a16="http://schemas.microsoft.com/office/drawing/2014/main" id="{FBF157A5-444F-4A25-D5C7-DA3AA8F194C4}"/>
              </a:ext>
            </a:extLst>
          </p:cNvPr>
          <p:cNvPicPr>
            <a:picLocks noGrp="1" noChangeAspect="1"/>
          </p:cNvPicPr>
          <p:nvPr>
            <p:ph sz="quarter" idx="13"/>
          </p:nvPr>
        </p:nvPicPr>
        <p:blipFill>
          <a:blip r:embed="rId2" cstate="print">
            <a:extLst>
              <a:ext uri="{28A0092B-C50C-407E-A947-70E740481C1C}">
                <a14:useLocalDpi xmlns:a14="http://schemas.microsoft.com/office/drawing/2010/main" val="0"/>
              </a:ext>
            </a:extLst>
          </a:blip>
          <a:stretch>
            <a:fillRect/>
          </a:stretch>
        </p:blipFill>
        <p:spPr>
          <a:xfrm>
            <a:off x="2585581" y="914400"/>
            <a:ext cx="7020837" cy="5400062"/>
          </a:xfrm>
        </p:spPr>
      </p:pic>
      <p:sp>
        <p:nvSpPr>
          <p:cNvPr id="4" name="Slide Number Placeholder 3">
            <a:extLst>
              <a:ext uri="{FF2B5EF4-FFF2-40B4-BE49-F238E27FC236}">
                <a16:creationId xmlns:a16="http://schemas.microsoft.com/office/drawing/2014/main" id="{690C40C8-49E6-E9CC-8A54-560182E8296A}"/>
              </a:ext>
            </a:extLst>
          </p:cNvPr>
          <p:cNvSpPr>
            <a:spLocks noGrp="1"/>
          </p:cNvSpPr>
          <p:nvPr>
            <p:ph type="sldNum" sz="quarter" idx="16"/>
          </p:nvPr>
        </p:nvSpPr>
        <p:spPr/>
        <p:txBody>
          <a:bodyPr/>
          <a:lstStyle/>
          <a:p>
            <a:pPr>
              <a:defRPr/>
            </a:pPr>
            <a:fld id="{4CD333A3-7515-47B8-9EDC-EE0892D9C861}" type="slidenum">
              <a:rPr lang="en-US" smtClean="0"/>
              <a:pPr>
                <a:defRPr/>
              </a:pPr>
              <a:t>13</a:t>
            </a:fld>
            <a:endParaRPr lang="en-US"/>
          </a:p>
        </p:txBody>
      </p:sp>
    </p:spTree>
    <p:extLst>
      <p:ext uri="{BB962C8B-B14F-4D97-AF65-F5344CB8AC3E}">
        <p14:creationId xmlns:p14="http://schemas.microsoft.com/office/powerpoint/2010/main" val="2233106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6BB40-EDEC-D933-DB8B-C9B3059D8C28}"/>
              </a:ext>
            </a:extLst>
          </p:cNvPr>
          <p:cNvSpPr>
            <a:spLocks noGrp="1"/>
          </p:cNvSpPr>
          <p:nvPr>
            <p:ph type="title"/>
          </p:nvPr>
        </p:nvSpPr>
        <p:spPr>
          <a:xfrm>
            <a:off x="609600" y="274638"/>
            <a:ext cx="10972800" cy="639762"/>
          </a:xfrm>
        </p:spPr>
        <p:txBody>
          <a:bodyPr>
            <a:normAutofit fontScale="90000"/>
          </a:bodyPr>
          <a:lstStyle/>
          <a:p>
            <a:r>
              <a:rPr lang="en-US" dirty="0"/>
              <a:t>Roc Curves</a:t>
            </a:r>
          </a:p>
        </p:txBody>
      </p:sp>
      <p:pic>
        <p:nvPicPr>
          <p:cNvPr id="6" name="Content Placeholder 5">
            <a:extLst>
              <a:ext uri="{FF2B5EF4-FFF2-40B4-BE49-F238E27FC236}">
                <a16:creationId xmlns:a16="http://schemas.microsoft.com/office/drawing/2014/main" id="{9ECECD2B-46A1-507D-B22B-1F7AFF545EF3}"/>
              </a:ext>
            </a:extLst>
          </p:cNvPr>
          <p:cNvPicPr>
            <a:picLocks noGrp="1" noChangeAspect="1"/>
          </p:cNvPicPr>
          <p:nvPr>
            <p:ph sz="quarter" idx="13"/>
          </p:nvPr>
        </p:nvPicPr>
        <p:blipFill>
          <a:blip r:embed="rId2" cstate="print">
            <a:extLst>
              <a:ext uri="{28A0092B-C50C-407E-A947-70E740481C1C}">
                <a14:useLocalDpi xmlns:a14="http://schemas.microsoft.com/office/drawing/2010/main" val="0"/>
              </a:ext>
            </a:extLst>
          </a:blip>
          <a:stretch>
            <a:fillRect/>
          </a:stretch>
        </p:blipFill>
        <p:spPr>
          <a:xfrm>
            <a:off x="2544886" y="1068071"/>
            <a:ext cx="7102228" cy="5257800"/>
          </a:xfrm>
        </p:spPr>
      </p:pic>
      <p:sp>
        <p:nvSpPr>
          <p:cNvPr id="4" name="Slide Number Placeholder 3">
            <a:extLst>
              <a:ext uri="{FF2B5EF4-FFF2-40B4-BE49-F238E27FC236}">
                <a16:creationId xmlns:a16="http://schemas.microsoft.com/office/drawing/2014/main" id="{199BEEFE-35BB-17DF-6472-834844A34DBC}"/>
              </a:ext>
            </a:extLst>
          </p:cNvPr>
          <p:cNvSpPr>
            <a:spLocks noGrp="1"/>
          </p:cNvSpPr>
          <p:nvPr>
            <p:ph type="sldNum" sz="quarter" idx="16"/>
          </p:nvPr>
        </p:nvSpPr>
        <p:spPr/>
        <p:txBody>
          <a:bodyPr/>
          <a:lstStyle/>
          <a:p>
            <a:pPr>
              <a:defRPr/>
            </a:pPr>
            <a:fld id="{4CD333A3-7515-47B8-9EDC-EE0892D9C861}" type="slidenum">
              <a:rPr lang="en-US" smtClean="0"/>
              <a:pPr>
                <a:defRPr/>
              </a:pPr>
              <a:t>14</a:t>
            </a:fld>
            <a:endParaRPr lang="en-US"/>
          </a:p>
        </p:txBody>
      </p:sp>
    </p:spTree>
    <p:extLst>
      <p:ext uri="{BB962C8B-B14F-4D97-AF65-F5344CB8AC3E}">
        <p14:creationId xmlns:p14="http://schemas.microsoft.com/office/powerpoint/2010/main" val="466697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83872-CF17-CC0B-5A9F-20FAFBDDEED7}"/>
              </a:ext>
            </a:extLst>
          </p:cNvPr>
          <p:cNvSpPr>
            <a:spLocks noGrp="1"/>
          </p:cNvSpPr>
          <p:nvPr>
            <p:ph type="title"/>
          </p:nvPr>
        </p:nvSpPr>
        <p:spPr/>
        <p:txBody>
          <a:bodyPr/>
          <a:lstStyle/>
          <a:p>
            <a:r>
              <a:rPr lang="en-US" dirty="0"/>
              <a:t>Training Vs Validation Accuracy Curves</a:t>
            </a:r>
          </a:p>
        </p:txBody>
      </p:sp>
      <p:pic>
        <p:nvPicPr>
          <p:cNvPr id="6" name="Content Placeholder 5">
            <a:extLst>
              <a:ext uri="{FF2B5EF4-FFF2-40B4-BE49-F238E27FC236}">
                <a16:creationId xmlns:a16="http://schemas.microsoft.com/office/drawing/2014/main" id="{4AF23EE4-0ACB-21CF-8A37-17A909980DFA}"/>
              </a:ext>
            </a:extLst>
          </p:cNvPr>
          <p:cNvPicPr>
            <a:picLocks noGrp="1" noChangeAspect="1"/>
          </p:cNvPicPr>
          <p:nvPr>
            <p:ph sz="quarter" idx="13"/>
          </p:nvPr>
        </p:nvPicPr>
        <p:blipFill>
          <a:blip r:embed="rId2" cstate="print">
            <a:extLst>
              <a:ext uri="{28A0092B-C50C-407E-A947-70E740481C1C}">
                <a14:useLocalDpi xmlns:a14="http://schemas.microsoft.com/office/drawing/2010/main" val="0"/>
              </a:ext>
            </a:extLst>
          </a:blip>
          <a:srcRect t="5769"/>
          <a:stretch>
            <a:fillRect/>
          </a:stretch>
        </p:blipFill>
        <p:spPr>
          <a:xfrm>
            <a:off x="2001257" y="1905000"/>
            <a:ext cx="8189486" cy="3733800"/>
          </a:xfrm>
        </p:spPr>
      </p:pic>
      <p:sp>
        <p:nvSpPr>
          <p:cNvPr id="4" name="Slide Number Placeholder 3">
            <a:extLst>
              <a:ext uri="{FF2B5EF4-FFF2-40B4-BE49-F238E27FC236}">
                <a16:creationId xmlns:a16="http://schemas.microsoft.com/office/drawing/2014/main" id="{ACC247C0-0015-E4FE-A2E3-0DBA11C95FFD}"/>
              </a:ext>
            </a:extLst>
          </p:cNvPr>
          <p:cNvSpPr>
            <a:spLocks noGrp="1"/>
          </p:cNvSpPr>
          <p:nvPr>
            <p:ph type="sldNum" sz="quarter" idx="16"/>
          </p:nvPr>
        </p:nvSpPr>
        <p:spPr/>
        <p:txBody>
          <a:bodyPr/>
          <a:lstStyle/>
          <a:p>
            <a:pPr>
              <a:defRPr/>
            </a:pPr>
            <a:fld id="{4CD333A3-7515-47B8-9EDC-EE0892D9C861}" type="slidenum">
              <a:rPr lang="en-US" smtClean="0"/>
              <a:pPr>
                <a:defRPr/>
              </a:pPr>
              <a:t>15</a:t>
            </a:fld>
            <a:endParaRPr lang="en-US"/>
          </a:p>
        </p:txBody>
      </p:sp>
    </p:spTree>
    <p:extLst>
      <p:ext uri="{BB962C8B-B14F-4D97-AF65-F5344CB8AC3E}">
        <p14:creationId xmlns:p14="http://schemas.microsoft.com/office/powerpoint/2010/main" val="2461170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FBC4D-ACEF-8F8A-029E-7186E86F5A28}"/>
              </a:ext>
            </a:extLst>
          </p:cNvPr>
          <p:cNvSpPr>
            <a:spLocks noGrp="1"/>
          </p:cNvSpPr>
          <p:nvPr>
            <p:ph type="title"/>
          </p:nvPr>
        </p:nvSpPr>
        <p:spPr>
          <a:xfrm>
            <a:off x="609600" y="274638"/>
            <a:ext cx="10972800" cy="792162"/>
          </a:xfrm>
        </p:spPr>
        <p:txBody>
          <a:bodyPr/>
          <a:lstStyle/>
          <a:p>
            <a:r>
              <a:rPr lang="en-US" dirty="0"/>
              <a:t>Model Performance Comparison</a:t>
            </a:r>
          </a:p>
        </p:txBody>
      </p:sp>
      <p:sp>
        <p:nvSpPr>
          <p:cNvPr id="4" name="Slide Number Placeholder 3">
            <a:extLst>
              <a:ext uri="{FF2B5EF4-FFF2-40B4-BE49-F238E27FC236}">
                <a16:creationId xmlns:a16="http://schemas.microsoft.com/office/drawing/2014/main" id="{B25927F4-8851-3A9A-B0FB-0BBE95212DEC}"/>
              </a:ext>
            </a:extLst>
          </p:cNvPr>
          <p:cNvSpPr>
            <a:spLocks noGrp="1"/>
          </p:cNvSpPr>
          <p:nvPr>
            <p:ph type="sldNum" sz="quarter" idx="16"/>
          </p:nvPr>
        </p:nvSpPr>
        <p:spPr/>
        <p:txBody>
          <a:bodyPr/>
          <a:lstStyle/>
          <a:p>
            <a:pPr>
              <a:defRPr/>
            </a:pPr>
            <a:fld id="{4CD333A3-7515-47B8-9EDC-EE0892D9C861}" type="slidenum">
              <a:rPr lang="en-US" smtClean="0"/>
              <a:pPr>
                <a:defRPr/>
              </a:pPr>
              <a:t>16</a:t>
            </a:fld>
            <a:endParaRPr lang="en-US"/>
          </a:p>
        </p:txBody>
      </p:sp>
      <p:pic>
        <p:nvPicPr>
          <p:cNvPr id="7170" name="Picture 2">
            <a:extLst>
              <a:ext uri="{FF2B5EF4-FFF2-40B4-BE49-F238E27FC236}">
                <a16:creationId xmlns:a16="http://schemas.microsoft.com/office/drawing/2014/main" id="{0C282448-7D86-1E1F-DCE9-C750CC5AB914}"/>
              </a:ext>
            </a:extLst>
          </p:cNvPr>
          <p:cNvPicPr>
            <a:picLocks noGrp="1" noChangeAspect="1" noChangeArrowheads="1"/>
          </p:cNvPicPr>
          <p:nvPr>
            <p:ph sz="quarter" idx="13"/>
          </p:nvPr>
        </p:nvPicPr>
        <p:blipFill>
          <a:blip r:embed="rId2" cstate="print">
            <a:extLst>
              <a:ext uri="{28A0092B-C50C-407E-A947-70E740481C1C}">
                <a14:useLocalDpi xmlns:a14="http://schemas.microsoft.com/office/drawing/2010/main" val="0"/>
              </a:ext>
            </a:extLst>
          </a:blip>
          <a:srcRect/>
          <a:stretch>
            <a:fillRect/>
          </a:stretch>
        </p:blipFill>
        <p:spPr bwMode="auto">
          <a:xfrm>
            <a:off x="3200400" y="1219200"/>
            <a:ext cx="6554403" cy="4864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0645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51164-F059-97E9-3725-11E4885C3E94}"/>
              </a:ext>
            </a:extLst>
          </p:cNvPr>
          <p:cNvSpPr>
            <a:spLocks noGrp="1"/>
          </p:cNvSpPr>
          <p:nvPr>
            <p:ph type="title"/>
          </p:nvPr>
        </p:nvSpPr>
        <p:spPr/>
        <p:txBody>
          <a:bodyPr/>
          <a:lstStyle/>
          <a:p>
            <a:r>
              <a:rPr lang="en-US" dirty="0"/>
              <a:t>Cross Validation</a:t>
            </a:r>
          </a:p>
        </p:txBody>
      </p:sp>
      <p:graphicFrame>
        <p:nvGraphicFramePr>
          <p:cNvPr id="5" name="Content Placeholder 4">
            <a:extLst>
              <a:ext uri="{FF2B5EF4-FFF2-40B4-BE49-F238E27FC236}">
                <a16:creationId xmlns:a16="http://schemas.microsoft.com/office/drawing/2014/main" id="{0D3BDE72-6850-B080-D31D-9E59855C2C65}"/>
              </a:ext>
            </a:extLst>
          </p:cNvPr>
          <p:cNvGraphicFramePr>
            <a:graphicFrameLocks noGrp="1"/>
          </p:cNvGraphicFramePr>
          <p:nvPr>
            <p:ph sz="quarter" idx="13"/>
            <p:extLst>
              <p:ext uri="{D42A27DB-BD31-4B8C-83A1-F6EECF244321}">
                <p14:modId xmlns:p14="http://schemas.microsoft.com/office/powerpoint/2010/main" val="1832011774"/>
              </p:ext>
            </p:extLst>
          </p:nvPr>
        </p:nvGraphicFramePr>
        <p:xfrm>
          <a:off x="609600" y="1808480"/>
          <a:ext cx="10972800" cy="4211320"/>
        </p:xfrm>
        <a:graphic>
          <a:graphicData uri="http://schemas.openxmlformats.org/drawingml/2006/table">
            <a:tbl>
              <a:tblPr/>
              <a:tblGrid>
                <a:gridCol w="2483030">
                  <a:extLst>
                    <a:ext uri="{9D8B030D-6E8A-4147-A177-3AD203B41FA5}">
                      <a16:colId xmlns:a16="http://schemas.microsoft.com/office/drawing/2014/main" val="126815415"/>
                    </a:ext>
                  </a:extLst>
                </a:gridCol>
                <a:gridCol w="2117878">
                  <a:extLst>
                    <a:ext uri="{9D8B030D-6E8A-4147-A177-3AD203B41FA5}">
                      <a16:colId xmlns:a16="http://schemas.microsoft.com/office/drawing/2014/main" val="3923126722"/>
                    </a:ext>
                  </a:extLst>
                </a:gridCol>
                <a:gridCol w="1205000">
                  <a:extLst>
                    <a:ext uri="{9D8B030D-6E8A-4147-A177-3AD203B41FA5}">
                      <a16:colId xmlns:a16="http://schemas.microsoft.com/office/drawing/2014/main" val="3031275096"/>
                    </a:ext>
                  </a:extLst>
                </a:gridCol>
                <a:gridCol w="2099620">
                  <a:extLst>
                    <a:ext uri="{9D8B030D-6E8A-4147-A177-3AD203B41FA5}">
                      <a16:colId xmlns:a16="http://schemas.microsoft.com/office/drawing/2014/main" val="3241565930"/>
                    </a:ext>
                  </a:extLst>
                </a:gridCol>
                <a:gridCol w="1752726">
                  <a:extLst>
                    <a:ext uri="{9D8B030D-6E8A-4147-A177-3AD203B41FA5}">
                      <a16:colId xmlns:a16="http://schemas.microsoft.com/office/drawing/2014/main" val="452962896"/>
                    </a:ext>
                  </a:extLst>
                </a:gridCol>
                <a:gridCol w="1314546">
                  <a:extLst>
                    <a:ext uri="{9D8B030D-6E8A-4147-A177-3AD203B41FA5}">
                      <a16:colId xmlns:a16="http://schemas.microsoft.com/office/drawing/2014/main" val="563526177"/>
                    </a:ext>
                  </a:extLst>
                </a:gridCol>
              </a:tblGrid>
              <a:tr h="526415">
                <a:tc>
                  <a:txBody>
                    <a:bodyPr/>
                    <a:lstStyle/>
                    <a:p>
                      <a:pPr algn="ctr" rtl="0" fontAlgn="t">
                        <a:buNone/>
                      </a:pPr>
                      <a:r>
                        <a:rPr lang="en-US" sz="1600" b="1" i="0" u="none" strike="noStrike" dirty="0">
                          <a:solidFill>
                            <a:schemeClr val="tx2"/>
                          </a:solidFill>
                          <a:effectLst/>
                          <a:latin typeface="Century" panose="02040604050505020304" pitchFamily="18" charset="0"/>
                        </a:rPr>
                        <a:t>Model</a:t>
                      </a:r>
                      <a:endParaRPr lang="en-US" sz="1600" dirty="0">
                        <a:solidFill>
                          <a:schemeClr val="tx2"/>
                        </a:solidFill>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1600" b="1" i="0" u="none" strike="noStrike" dirty="0">
                          <a:solidFill>
                            <a:schemeClr val="tx2"/>
                          </a:solidFill>
                          <a:effectLst/>
                          <a:latin typeface="Century" panose="02040604050505020304" pitchFamily="18" charset="0"/>
                        </a:rPr>
                        <a:t>Mean Accuracy</a:t>
                      </a:r>
                      <a:endParaRPr lang="en-US" sz="1600" dirty="0">
                        <a:solidFill>
                          <a:schemeClr val="tx2"/>
                        </a:solidFill>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1600" b="1" i="0" u="none" strike="noStrike">
                          <a:solidFill>
                            <a:schemeClr val="tx2"/>
                          </a:solidFill>
                          <a:effectLst/>
                          <a:latin typeface="Century" panose="02040604050505020304" pitchFamily="18" charset="0"/>
                        </a:rPr>
                        <a:t>Std Dev</a:t>
                      </a:r>
                      <a:endParaRPr lang="en-US" sz="1600">
                        <a:solidFill>
                          <a:schemeClr val="tx2"/>
                        </a:solidFill>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1600" b="1" i="0" u="none" strike="noStrike">
                          <a:solidFill>
                            <a:schemeClr val="tx2"/>
                          </a:solidFill>
                          <a:effectLst/>
                          <a:latin typeface="Century" panose="02040604050505020304" pitchFamily="18" charset="0"/>
                        </a:rPr>
                        <a:t>Mean Precision</a:t>
                      </a:r>
                      <a:endParaRPr lang="en-US" sz="1600">
                        <a:solidFill>
                          <a:schemeClr val="tx2"/>
                        </a:solidFill>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1600" b="1" i="0" u="none" strike="noStrike">
                          <a:solidFill>
                            <a:schemeClr val="tx2"/>
                          </a:solidFill>
                          <a:effectLst/>
                          <a:latin typeface="Century" panose="02040604050505020304" pitchFamily="18" charset="0"/>
                        </a:rPr>
                        <a:t>Mean Recall</a:t>
                      </a:r>
                      <a:endParaRPr lang="en-US" sz="1600">
                        <a:solidFill>
                          <a:schemeClr val="tx2"/>
                        </a:solidFill>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1600" b="1" i="0" u="none" strike="noStrike" dirty="0">
                          <a:solidFill>
                            <a:schemeClr val="tx2"/>
                          </a:solidFill>
                          <a:effectLst/>
                          <a:latin typeface="Century" panose="02040604050505020304" pitchFamily="18" charset="0"/>
                        </a:rPr>
                        <a:t>Mean F1</a:t>
                      </a:r>
                      <a:endParaRPr lang="en-US" sz="1600" dirty="0">
                        <a:solidFill>
                          <a:schemeClr val="tx2"/>
                        </a:solidFill>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10407934"/>
                  </a:ext>
                </a:extLst>
              </a:tr>
              <a:tr h="526415">
                <a:tc>
                  <a:txBody>
                    <a:bodyPr/>
                    <a:lstStyle/>
                    <a:p>
                      <a:pPr rtl="0" fontAlgn="t">
                        <a:buNone/>
                      </a:pPr>
                      <a:r>
                        <a:rPr lang="en-US" sz="1600" b="0" i="0" u="none" strike="noStrike">
                          <a:solidFill>
                            <a:srgbClr val="000000"/>
                          </a:solidFill>
                          <a:effectLst/>
                          <a:latin typeface="Century" panose="02040604050505020304" pitchFamily="18" charset="0"/>
                        </a:rPr>
                        <a:t>Naive Bayes</a:t>
                      </a:r>
                      <a:endParaRPr lang="en-US" sz="1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dirty="0">
                          <a:solidFill>
                            <a:srgbClr val="000000"/>
                          </a:solidFill>
                          <a:effectLst/>
                          <a:latin typeface="Century" panose="02040604050505020304" pitchFamily="18" charset="0"/>
                        </a:rPr>
                        <a:t>97.25%</a:t>
                      </a:r>
                      <a:endParaRPr lang="en-US" sz="1600" dirty="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dirty="0">
                          <a:solidFill>
                            <a:srgbClr val="000000"/>
                          </a:solidFill>
                          <a:effectLst/>
                          <a:latin typeface="Century" panose="02040604050505020304" pitchFamily="18" charset="0"/>
                        </a:rPr>
                        <a:t>0.73%</a:t>
                      </a:r>
                      <a:endParaRPr lang="en-US" sz="1600" dirty="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a:solidFill>
                            <a:srgbClr val="000000"/>
                          </a:solidFill>
                          <a:effectLst/>
                          <a:latin typeface="Century" panose="02040604050505020304" pitchFamily="18" charset="0"/>
                        </a:rPr>
                        <a:t>97.46%</a:t>
                      </a:r>
                      <a:endParaRPr lang="en-US" sz="1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a:solidFill>
                            <a:srgbClr val="000000"/>
                          </a:solidFill>
                          <a:effectLst/>
                          <a:latin typeface="Century" panose="02040604050505020304" pitchFamily="18" charset="0"/>
                        </a:rPr>
                        <a:t>97.25%</a:t>
                      </a:r>
                      <a:endParaRPr lang="en-US" sz="1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a:solidFill>
                            <a:srgbClr val="000000"/>
                          </a:solidFill>
                          <a:effectLst/>
                          <a:latin typeface="Century" panose="02040604050505020304" pitchFamily="18" charset="0"/>
                        </a:rPr>
                        <a:t>97.24%</a:t>
                      </a:r>
                      <a:endParaRPr lang="en-US" sz="1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93281728"/>
                  </a:ext>
                </a:extLst>
              </a:tr>
              <a:tr h="526415">
                <a:tc>
                  <a:txBody>
                    <a:bodyPr/>
                    <a:lstStyle/>
                    <a:p>
                      <a:pPr rtl="0" fontAlgn="t">
                        <a:buNone/>
                      </a:pPr>
                      <a:r>
                        <a:rPr lang="en-US" sz="1600" b="0" i="0" u="none" strike="noStrike">
                          <a:solidFill>
                            <a:srgbClr val="000000"/>
                          </a:solidFill>
                          <a:effectLst/>
                          <a:latin typeface="Century" panose="02040604050505020304" pitchFamily="18" charset="0"/>
                        </a:rPr>
                        <a:t>Logistic Regression</a:t>
                      </a:r>
                      <a:endParaRPr lang="en-US" sz="1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a:solidFill>
                            <a:srgbClr val="000000"/>
                          </a:solidFill>
                          <a:effectLst/>
                          <a:latin typeface="Century" panose="02040604050505020304" pitchFamily="18" charset="0"/>
                        </a:rPr>
                        <a:t>96.75%</a:t>
                      </a:r>
                      <a:endParaRPr lang="en-US" sz="1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dirty="0">
                          <a:solidFill>
                            <a:srgbClr val="000000"/>
                          </a:solidFill>
                          <a:effectLst/>
                          <a:latin typeface="Century" panose="02040604050505020304" pitchFamily="18" charset="0"/>
                        </a:rPr>
                        <a:t>0.67%</a:t>
                      </a:r>
                      <a:endParaRPr lang="en-US" sz="1600" dirty="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dirty="0">
                          <a:solidFill>
                            <a:srgbClr val="000000"/>
                          </a:solidFill>
                          <a:effectLst/>
                          <a:latin typeface="Century" panose="02040604050505020304" pitchFamily="18" charset="0"/>
                        </a:rPr>
                        <a:t>97.12%</a:t>
                      </a:r>
                      <a:endParaRPr lang="en-US" sz="1600" dirty="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a:solidFill>
                            <a:srgbClr val="000000"/>
                          </a:solidFill>
                          <a:effectLst/>
                          <a:latin typeface="Century" panose="02040604050505020304" pitchFamily="18" charset="0"/>
                        </a:rPr>
                        <a:t>96.75%</a:t>
                      </a:r>
                      <a:endParaRPr lang="en-US" sz="1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a:solidFill>
                            <a:srgbClr val="000000"/>
                          </a:solidFill>
                          <a:effectLst/>
                          <a:latin typeface="Century" panose="02040604050505020304" pitchFamily="18" charset="0"/>
                        </a:rPr>
                        <a:t>96.74%</a:t>
                      </a:r>
                      <a:endParaRPr lang="en-US" sz="1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26277728"/>
                  </a:ext>
                </a:extLst>
              </a:tr>
              <a:tr h="526415">
                <a:tc>
                  <a:txBody>
                    <a:bodyPr/>
                    <a:lstStyle/>
                    <a:p>
                      <a:pPr rtl="0" fontAlgn="t">
                        <a:buNone/>
                      </a:pPr>
                      <a:r>
                        <a:rPr lang="en-US" sz="1600" b="0" i="0" u="none" strike="noStrike">
                          <a:solidFill>
                            <a:srgbClr val="000000"/>
                          </a:solidFill>
                          <a:effectLst/>
                          <a:latin typeface="Century" panose="02040604050505020304" pitchFamily="18" charset="0"/>
                        </a:rPr>
                        <a:t>SVM (RBF)</a:t>
                      </a:r>
                      <a:endParaRPr lang="en-US" sz="1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a:solidFill>
                            <a:srgbClr val="000000"/>
                          </a:solidFill>
                          <a:effectLst/>
                          <a:latin typeface="Century" panose="02040604050505020304" pitchFamily="18" charset="0"/>
                        </a:rPr>
                        <a:t>96.50%</a:t>
                      </a:r>
                      <a:endParaRPr lang="en-US" sz="1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dirty="0">
                          <a:solidFill>
                            <a:srgbClr val="000000"/>
                          </a:solidFill>
                          <a:effectLst/>
                          <a:latin typeface="Century" panose="02040604050505020304" pitchFamily="18" charset="0"/>
                        </a:rPr>
                        <a:t>0.86%</a:t>
                      </a:r>
                      <a:endParaRPr lang="en-US" sz="1600" dirty="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dirty="0">
                          <a:solidFill>
                            <a:srgbClr val="000000"/>
                          </a:solidFill>
                          <a:effectLst/>
                          <a:latin typeface="Century" panose="02040604050505020304" pitchFamily="18" charset="0"/>
                        </a:rPr>
                        <a:t>96.90%</a:t>
                      </a:r>
                      <a:endParaRPr lang="en-US" sz="1600" dirty="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a:solidFill>
                            <a:srgbClr val="000000"/>
                          </a:solidFill>
                          <a:effectLst/>
                          <a:latin typeface="Century" panose="02040604050505020304" pitchFamily="18" charset="0"/>
                        </a:rPr>
                        <a:t>96.50%</a:t>
                      </a:r>
                      <a:endParaRPr lang="en-US" sz="1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a:solidFill>
                            <a:srgbClr val="000000"/>
                          </a:solidFill>
                          <a:effectLst/>
                          <a:latin typeface="Century" panose="02040604050505020304" pitchFamily="18" charset="0"/>
                        </a:rPr>
                        <a:t>96.52%</a:t>
                      </a:r>
                      <a:endParaRPr lang="en-US" sz="1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1810254"/>
                  </a:ext>
                </a:extLst>
              </a:tr>
              <a:tr h="526415">
                <a:tc>
                  <a:txBody>
                    <a:bodyPr/>
                    <a:lstStyle/>
                    <a:p>
                      <a:pPr rtl="0" fontAlgn="t">
                        <a:buNone/>
                      </a:pPr>
                      <a:r>
                        <a:rPr lang="en-US" sz="1600" b="0" i="0" u="none" strike="noStrike">
                          <a:solidFill>
                            <a:srgbClr val="000000"/>
                          </a:solidFill>
                          <a:effectLst/>
                          <a:latin typeface="Century" panose="02040604050505020304" pitchFamily="18" charset="0"/>
                        </a:rPr>
                        <a:t>SVM (Linear)</a:t>
                      </a:r>
                      <a:endParaRPr lang="en-US" sz="1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dirty="0">
                          <a:solidFill>
                            <a:srgbClr val="000000"/>
                          </a:solidFill>
                          <a:effectLst/>
                          <a:latin typeface="Century" panose="02040604050505020304" pitchFamily="18" charset="0"/>
                        </a:rPr>
                        <a:t>96.25%</a:t>
                      </a:r>
                      <a:endParaRPr lang="en-US" sz="1600" dirty="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a:solidFill>
                            <a:srgbClr val="000000"/>
                          </a:solidFill>
                          <a:effectLst/>
                          <a:latin typeface="Century" panose="02040604050505020304" pitchFamily="18" charset="0"/>
                        </a:rPr>
                        <a:t>0.70%</a:t>
                      </a:r>
                      <a:endParaRPr lang="en-US" sz="1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dirty="0">
                          <a:solidFill>
                            <a:srgbClr val="000000"/>
                          </a:solidFill>
                          <a:effectLst/>
                          <a:latin typeface="Century" panose="02040604050505020304" pitchFamily="18" charset="0"/>
                        </a:rPr>
                        <a:t>96.63%</a:t>
                      </a:r>
                      <a:endParaRPr lang="en-US" sz="1600" dirty="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dirty="0">
                          <a:solidFill>
                            <a:srgbClr val="000000"/>
                          </a:solidFill>
                          <a:effectLst/>
                          <a:latin typeface="Century" panose="02040604050505020304" pitchFamily="18" charset="0"/>
                        </a:rPr>
                        <a:t>96.25%</a:t>
                      </a:r>
                      <a:endParaRPr lang="en-US" sz="1600" dirty="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a:solidFill>
                            <a:srgbClr val="000000"/>
                          </a:solidFill>
                          <a:effectLst/>
                          <a:latin typeface="Century" panose="02040604050505020304" pitchFamily="18" charset="0"/>
                        </a:rPr>
                        <a:t>96.27%</a:t>
                      </a:r>
                      <a:endParaRPr lang="en-US" sz="1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30607416"/>
                  </a:ext>
                </a:extLst>
              </a:tr>
              <a:tr h="526415">
                <a:tc>
                  <a:txBody>
                    <a:bodyPr/>
                    <a:lstStyle/>
                    <a:p>
                      <a:pPr rtl="0" fontAlgn="t">
                        <a:buNone/>
                      </a:pPr>
                      <a:r>
                        <a:rPr lang="en-US" sz="1600" b="1" i="0" u="none" strike="noStrike">
                          <a:solidFill>
                            <a:srgbClr val="000000"/>
                          </a:solidFill>
                          <a:effectLst/>
                          <a:latin typeface="Century" panose="02040604050505020304" pitchFamily="18" charset="0"/>
                        </a:rPr>
                        <a:t>Stacking Ensemble</a:t>
                      </a:r>
                      <a:endParaRPr lang="en-US" sz="1600" b="1">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1" i="0" u="none" strike="noStrike" dirty="0">
                          <a:solidFill>
                            <a:srgbClr val="000000"/>
                          </a:solidFill>
                          <a:effectLst/>
                          <a:latin typeface="Century" panose="02040604050505020304" pitchFamily="18" charset="0"/>
                        </a:rPr>
                        <a:t>96.00%</a:t>
                      </a:r>
                      <a:endParaRPr lang="en-US" sz="1600" b="1" dirty="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1" i="0" u="none" strike="noStrike">
                          <a:solidFill>
                            <a:srgbClr val="000000"/>
                          </a:solidFill>
                          <a:effectLst/>
                          <a:latin typeface="Century" panose="02040604050505020304" pitchFamily="18" charset="0"/>
                        </a:rPr>
                        <a:t>0.20%</a:t>
                      </a:r>
                      <a:endParaRPr lang="en-US" sz="1600" b="1">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1" i="0" u="none" strike="noStrike">
                          <a:solidFill>
                            <a:srgbClr val="000000"/>
                          </a:solidFill>
                          <a:effectLst/>
                          <a:latin typeface="Century" panose="02040604050505020304" pitchFamily="18" charset="0"/>
                        </a:rPr>
                        <a:t>96.42%</a:t>
                      </a:r>
                      <a:endParaRPr lang="en-US" sz="1600" b="1">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1" i="0" u="none" strike="noStrike" dirty="0">
                          <a:solidFill>
                            <a:srgbClr val="000000"/>
                          </a:solidFill>
                          <a:effectLst/>
                          <a:latin typeface="Century" panose="02040604050505020304" pitchFamily="18" charset="0"/>
                        </a:rPr>
                        <a:t>96.00%</a:t>
                      </a:r>
                      <a:endParaRPr lang="en-US" sz="1600" b="1" dirty="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1" i="0" u="none" strike="noStrike" dirty="0">
                          <a:solidFill>
                            <a:srgbClr val="000000"/>
                          </a:solidFill>
                          <a:effectLst/>
                          <a:latin typeface="Century" panose="02040604050505020304" pitchFamily="18" charset="0"/>
                        </a:rPr>
                        <a:t>95.97%</a:t>
                      </a:r>
                      <a:endParaRPr lang="en-US" sz="1600" b="1" dirty="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2597359"/>
                  </a:ext>
                </a:extLst>
              </a:tr>
              <a:tr h="526415">
                <a:tc>
                  <a:txBody>
                    <a:bodyPr/>
                    <a:lstStyle/>
                    <a:p>
                      <a:pPr rtl="0" fontAlgn="t">
                        <a:buNone/>
                      </a:pPr>
                      <a:r>
                        <a:rPr lang="en-US" sz="1600" b="0" i="0" u="none" strike="noStrike">
                          <a:solidFill>
                            <a:srgbClr val="000000"/>
                          </a:solidFill>
                          <a:effectLst/>
                          <a:latin typeface="Century" panose="02040604050505020304" pitchFamily="18" charset="0"/>
                        </a:rPr>
                        <a:t>Random Forest</a:t>
                      </a:r>
                      <a:endParaRPr lang="en-US" sz="1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dirty="0">
                          <a:solidFill>
                            <a:srgbClr val="000000"/>
                          </a:solidFill>
                          <a:effectLst/>
                          <a:latin typeface="Century" panose="02040604050505020304" pitchFamily="18" charset="0"/>
                        </a:rPr>
                        <a:t>95.42%</a:t>
                      </a:r>
                      <a:endParaRPr lang="en-US" sz="1600" dirty="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a:solidFill>
                            <a:srgbClr val="000000"/>
                          </a:solidFill>
                          <a:effectLst/>
                          <a:latin typeface="Century" panose="02040604050505020304" pitchFamily="18" charset="0"/>
                        </a:rPr>
                        <a:t>0.95%</a:t>
                      </a:r>
                      <a:endParaRPr lang="en-US" sz="1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a:solidFill>
                            <a:srgbClr val="000000"/>
                          </a:solidFill>
                          <a:effectLst/>
                          <a:latin typeface="Century" panose="02040604050505020304" pitchFamily="18" charset="0"/>
                        </a:rPr>
                        <a:t>96.02%</a:t>
                      </a:r>
                      <a:endParaRPr lang="en-US" sz="1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a:solidFill>
                            <a:srgbClr val="000000"/>
                          </a:solidFill>
                          <a:effectLst/>
                          <a:latin typeface="Century" panose="02040604050505020304" pitchFamily="18" charset="0"/>
                        </a:rPr>
                        <a:t>95.42%</a:t>
                      </a:r>
                      <a:endParaRPr lang="en-US" sz="1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dirty="0">
                          <a:solidFill>
                            <a:srgbClr val="000000"/>
                          </a:solidFill>
                          <a:effectLst/>
                          <a:latin typeface="Century" panose="02040604050505020304" pitchFamily="18" charset="0"/>
                        </a:rPr>
                        <a:t>95.37%</a:t>
                      </a:r>
                      <a:endParaRPr lang="en-US" sz="1600" dirty="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99739193"/>
                  </a:ext>
                </a:extLst>
              </a:tr>
              <a:tr h="526415">
                <a:tc>
                  <a:txBody>
                    <a:bodyPr/>
                    <a:lstStyle/>
                    <a:p>
                      <a:pPr rtl="0" fontAlgn="t">
                        <a:buNone/>
                      </a:pPr>
                      <a:r>
                        <a:rPr lang="en-US" sz="1600" b="0" i="0" u="none" strike="noStrike">
                          <a:solidFill>
                            <a:srgbClr val="000000"/>
                          </a:solidFill>
                          <a:effectLst/>
                          <a:latin typeface="Century" panose="02040604050505020304" pitchFamily="18" charset="0"/>
                        </a:rPr>
                        <a:t>XGBoost</a:t>
                      </a:r>
                      <a:endParaRPr lang="en-US" sz="1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a:solidFill>
                            <a:srgbClr val="000000"/>
                          </a:solidFill>
                          <a:effectLst/>
                          <a:latin typeface="Century" panose="02040604050505020304" pitchFamily="18" charset="0"/>
                        </a:rPr>
                        <a:t>88.83%</a:t>
                      </a:r>
                      <a:endParaRPr lang="en-US" sz="1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a:solidFill>
                            <a:srgbClr val="000000"/>
                          </a:solidFill>
                          <a:effectLst/>
                          <a:latin typeface="Century" panose="02040604050505020304" pitchFamily="18" charset="0"/>
                        </a:rPr>
                        <a:t>1.19%</a:t>
                      </a:r>
                      <a:endParaRPr lang="en-US" sz="1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a:solidFill>
                            <a:srgbClr val="000000"/>
                          </a:solidFill>
                          <a:effectLst/>
                          <a:latin typeface="Century" panose="02040604050505020304" pitchFamily="18" charset="0"/>
                        </a:rPr>
                        <a:t>89.75%</a:t>
                      </a:r>
                      <a:endParaRPr lang="en-US" sz="1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a:solidFill>
                            <a:srgbClr val="000000"/>
                          </a:solidFill>
                          <a:effectLst/>
                          <a:latin typeface="Century" panose="02040604050505020304" pitchFamily="18" charset="0"/>
                        </a:rPr>
                        <a:t>88.83%</a:t>
                      </a:r>
                      <a:endParaRPr lang="en-US" sz="160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dirty="0">
                          <a:solidFill>
                            <a:srgbClr val="000000"/>
                          </a:solidFill>
                          <a:effectLst/>
                          <a:latin typeface="Century" panose="02040604050505020304" pitchFamily="18" charset="0"/>
                        </a:rPr>
                        <a:t>88.68%</a:t>
                      </a:r>
                      <a:endParaRPr lang="en-US" sz="1600" dirty="0">
                        <a:effectLst/>
                      </a:endParaRPr>
                    </a:p>
                  </a:txBody>
                  <a:tcPr marL="63500" marR="63500" marT="63500" marB="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44439272"/>
                  </a:ext>
                </a:extLst>
              </a:tr>
            </a:tbl>
          </a:graphicData>
        </a:graphic>
      </p:graphicFrame>
      <p:sp>
        <p:nvSpPr>
          <p:cNvPr id="4" name="Slide Number Placeholder 3">
            <a:extLst>
              <a:ext uri="{FF2B5EF4-FFF2-40B4-BE49-F238E27FC236}">
                <a16:creationId xmlns:a16="http://schemas.microsoft.com/office/drawing/2014/main" id="{15432D8C-CE24-9C63-3120-93F0E1DEA2CF}"/>
              </a:ext>
            </a:extLst>
          </p:cNvPr>
          <p:cNvSpPr>
            <a:spLocks noGrp="1"/>
          </p:cNvSpPr>
          <p:nvPr>
            <p:ph type="sldNum" sz="quarter" idx="16"/>
          </p:nvPr>
        </p:nvSpPr>
        <p:spPr/>
        <p:txBody>
          <a:bodyPr/>
          <a:lstStyle/>
          <a:p>
            <a:pPr>
              <a:defRPr/>
            </a:pPr>
            <a:fld id="{4CD333A3-7515-47B8-9EDC-EE0892D9C861}" type="slidenum">
              <a:rPr lang="en-US" smtClean="0"/>
              <a:pPr>
                <a:defRPr/>
              </a:pPr>
              <a:t>17</a:t>
            </a:fld>
            <a:endParaRPr lang="en-US"/>
          </a:p>
        </p:txBody>
      </p:sp>
      <p:sp>
        <p:nvSpPr>
          <p:cNvPr id="6" name="Rectangle 1">
            <a:extLst>
              <a:ext uri="{FF2B5EF4-FFF2-40B4-BE49-F238E27FC236}">
                <a16:creationId xmlns:a16="http://schemas.microsoft.com/office/drawing/2014/main" id="{9EE8582F-6EB2-698E-26A2-A3ABBDD5D4B3}"/>
              </a:ext>
            </a:extLst>
          </p:cNvPr>
          <p:cNvSpPr>
            <a:spLocks noChangeArrowheads="1"/>
          </p:cNvSpPr>
          <p:nvPr/>
        </p:nvSpPr>
        <p:spPr bwMode="auto">
          <a:xfrm>
            <a:off x="-8510057" y="0"/>
            <a:ext cx="2070205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1573211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BD5C3-9AD4-FA80-7897-F9CEA401B1C1}"/>
              </a:ext>
            </a:extLst>
          </p:cNvPr>
          <p:cNvSpPr>
            <a:spLocks noGrp="1"/>
          </p:cNvSpPr>
          <p:nvPr>
            <p:ph type="title"/>
          </p:nvPr>
        </p:nvSpPr>
        <p:spPr/>
        <p:txBody>
          <a:bodyPr/>
          <a:lstStyle/>
          <a:p>
            <a:r>
              <a:rPr lang="en-US" dirty="0"/>
              <a:t>Cross Validation</a:t>
            </a:r>
          </a:p>
        </p:txBody>
      </p:sp>
      <p:pic>
        <p:nvPicPr>
          <p:cNvPr id="6" name="Content Placeholder 5">
            <a:extLst>
              <a:ext uri="{FF2B5EF4-FFF2-40B4-BE49-F238E27FC236}">
                <a16:creationId xmlns:a16="http://schemas.microsoft.com/office/drawing/2014/main" id="{CABD7BB8-D4FD-8A34-C425-A05B84803286}"/>
              </a:ext>
            </a:extLst>
          </p:cNvPr>
          <p:cNvPicPr>
            <a:picLocks noGrp="1" noChangeAspect="1"/>
          </p:cNvPicPr>
          <p:nvPr>
            <p:ph sz="quarter" idx="13"/>
          </p:nvPr>
        </p:nvPicPr>
        <p:blipFill>
          <a:blip r:embed="rId2" cstate="print">
            <a:extLst>
              <a:ext uri="{28A0092B-C50C-407E-A947-70E740481C1C}">
                <a14:useLocalDpi xmlns:a14="http://schemas.microsoft.com/office/drawing/2010/main" val="0"/>
              </a:ext>
            </a:extLst>
          </a:blip>
          <a:stretch>
            <a:fillRect/>
          </a:stretch>
        </p:blipFill>
        <p:spPr>
          <a:xfrm>
            <a:off x="741496" y="1676400"/>
            <a:ext cx="10709007" cy="3962400"/>
          </a:xfrm>
        </p:spPr>
      </p:pic>
      <p:sp>
        <p:nvSpPr>
          <p:cNvPr id="4" name="Slide Number Placeholder 3">
            <a:extLst>
              <a:ext uri="{FF2B5EF4-FFF2-40B4-BE49-F238E27FC236}">
                <a16:creationId xmlns:a16="http://schemas.microsoft.com/office/drawing/2014/main" id="{BB360057-9175-615A-800A-41504017A968}"/>
              </a:ext>
            </a:extLst>
          </p:cNvPr>
          <p:cNvSpPr>
            <a:spLocks noGrp="1"/>
          </p:cNvSpPr>
          <p:nvPr>
            <p:ph type="sldNum" sz="quarter" idx="16"/>
          </p:nvPr>
        </p:nvSpPr>
        <p:spPr/>
        <p:txBody>
          <a:bodyPr/>
          <a:lstStyle/>
          <a:p>
            <a:pPr>
              <a:defRPr/>
            </a:pPr>
            <a:fld id="{4CD333A3-7515-47B8-9EDC-EE0892D9C861}" type="slidenum">
              <a:rPr lang="en-US" smtClean="0"/>
              <a:pPr>
                <a:defRPr/>
              </a:pPr>
              <a:t>18</a:t>
            </a:fld>
            <a:endParaRPr lang="en-US"/>
          </a:p>
        </p:txBody>
      </p:sp>
    </p:spTree>
    <p:extLst>
      <p:ext uri="{BB962C8B-B14F-4D97-AF65-F5344CB8AC3E}">
        <p14:creationId xmlns:p14="http://schemas.microsoft.com/office/powerpoint/2010/main" val="18429292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373DF-6A73-2963-7808-29C73CB325E9}"/>
              </a:ext>
            </a:extLst>
          </p:cNvPr>
          <p:cNvSpPr>
            <a:spLocks noGrp="1"/>
          </p:cNvSpPr>
          <p:nvPr>
            <p:ph type="title"/>
          </p:nvPr>
        </p:nvSpPr>
        <p:spPr>
          <a:xfrm>
            <a:off x="609600" y="274638"/>
            <a:ext cx="10972800" cy="792162"/>
          </a:xfrm>
        </p:spPr>
        <p:txBody>
          <a:bodyPr/>
          <a:lstStyle/>
          <a:p>
            <a:r>
              <a:rPr lang="en-US" dirty="0"/>
              <a:t>Rag Data Processing</a:t>
            </a:r>
          </a:p>
        </p:txBody>
      </p:sp>
      <p:sp>
        <p:nvSpPr>
          <p:cNvPr id="4" name="Slide Number Placeholder 3">
            <a:extLst>
              <a:ext uri="{FF2B5EF4-FFF2-40B4-BE49-F238E27FC236}">
                <a16:creationId xmlns:a16="http://schemas.microsoft.com/office/drawing/2014/main" id="{DE30DD2A-763E-ACF9-DB07-466247C1E3D4}"/>
              </a:ext>
            </a:extLst>
          </p:cNvPr>
          <p:cNvSpPr>
            <a:spLocks noGrp="1"/>
          </p:cNvSpPr>
          <p:nvPr>
            <p:ph type="sldNum" sz="quarter" idx="16"/>
          </p:nvPr>
        </p:nvSpPr>
        <p:spPr/>
        <p:txBody>
          <a:bodyPr/>
          <a:lstStyle/>
          <a:p>
            <a:pPr>
              <a:defRPr/>
            </a:pPr>
            <a:fld id="{4CD333A3-7515-47B8-9EDC-EE0892D9C861}" type="slidenum">
              <a:rPr lang="en-US" smtClean="0"/>
              <a:pPr>
                <a:defRPr/>
              </a:pPr>
              <a:t>19</a:t>
            </a:fld>
            <a:endParaRPr lang="en-US"/>
          </a:p>
        </p:txBody>
      </p:sp>
      <p:pic>
        <p:nvPicPr>
          <p:cNvPr id="8" name="Content Placeholder 7" descr="A diagram of a process&#10;&#10;AI-generated content may be incorrect.">
            <a:extLst>
              <a:ext uri="{FF2B5EF4-FFF2-40B4-BE49-F238E27FC236}">
                <a16:creationId xmlns:a16="http://schemas.microsoft.com/office/drawing/2014/main" id="{2C175033-5E25-F2E9-0F44-47B439E49DAB}"/>
              </a:ext>
            </a:extLst>
          </p:cNvPr>
          <p:cNvPicPr>
            <a:picLocks noGrp="1" noChangeAspect="1"/>
          </p:cNvPicPr>
          <p:nvPr>
            <p:ph sz="quarter" idx="13"/>
          </p:nvPr>
        </p:nvPicPr>
        <p:blipFill>
          <a:blip r:embed="rId2"/>
          <a:stretch>
            <a:fillRect/>
          </a:stretch>
        </p:blipFill>
        <p:spPr>
          <a:xfrm>
            <a:off x="756834" y="1676400"/>
            <a:ext cx="10678332" cy="3962400"/>
          </a:xfrm>
          <a:prstGeom prst="rect">
            <a:avLst/>
          </a:prstGeom>
        </p:spPr>
      </p:pic>
    </p:spTree>
    <p:extLst>
      <p:ext uri="{BB962C8B-B14F-4D97-AF65-F5344CB8AC3E}">
        <p14:creationId xmlns:p14="http://schemas.microsoft.com/office/powerpoint/2010/main" val="13899940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79CAD-F336-C8B1-8B50-CC05B6EA01C0}"/>
              </a:ext>
            </a:extLst>
          </p:cNvPr>
          <p:cNvSpPr>
            <a:spLocks noGrp="1"/>
          </p:cNvSpPr>
          <p:nvPr>
            <p:ph type="title"/>
          </p:nvPr>
        </p:nvSpPr>
        <p:spPr>
          <a:xfrm>
            <a:off x="228600" y="274638"/>
            <a:ext cx="11353800" cy="1143000"/>
          </a:xfrm>
        </p:spPr>
        <p:txBody>
          <a:bodyPr>
            <a:normAutofit fontScale="90000"/>
          </a:bodyPr>
          <a:lstStyle/>
          <a:p>
            <a:r>
              <a:rPr lang="en-US" dirty="0"/>
              <a:t>RAG Context Relevance and Retrieval Quality Analysis</a:t>
            </a:r>
          </a:p>
        </p:txBody>
      </p:sp>
      <p:pic>
        <p:nvPicPr>
          <p:cNvPr id="6" name="Content Placeholder 5">
            <a:extLst>
              <a:ext uri="{FF2B5EF4-FFF2-40B4-BE49-F238E27FC236}">
                <a16:creationId xmlns:a16="http://schemas.microsoft.com/office/drawing/2014/main" id="{C435FC7F-CEC1-C2A9-253D-182CAC84425F}"/>
              </a:ext>
            </a:extLst>
          </p:cNvPr>
          <p:cNvPicPr>
            <a:picLocks noGrp="1" noChangeAspect="1"/>
          </p:cNvPicPr>
          <p:nvPr>
            <p:ph sz="quarter" idx="13"/>
          </p:nvPr>
        </p:nvPicPr>
        <p:blipFill>
          <a:blip r:embed="rId2" cstate="print">
            <a:extLst>
              <a:ext uri="{28A0092B-C50C-407E-A947-70E740481C1C}">
                <a14:useLocalDpi xmlns:a14="http://schemas.microsoft.com/office/drawing/2010/main" val="0"/>
              </a:ext>
            </a:extLst>
          </a:blip>
          <a:stretch>
            <a:fillRect/>
          </a:stretch>
        </p:blipFill>
        <p:spPr>
          <a:xfrm>
            <a:off x="3048000" y="1516497"/>
            <a:ext cx="6327548" cy="4695274"/>
          </a:xfrm>
        </p:spPr>
      </p:pic>
      <p:sp>
        <p:nvSpPr>
          <p:cNvPr id="4" name="Slide Number Placeholder 3">
            <a:extLst>
              <a:ext uri="{FF2B5EF4-FFF2-40B4-BE49-F238E27FC236}">
                <a16:creationId xmlns:a16="http://schemas.microsoft.com/office/drawing/2014/main" id="{95D96881-DAF6-3A1B-B25F-F7B48B480404}"/>
              </a:ext>
            </a:extLst>
          </p:cNvPr>
          <p:cNvSpPr>
            <a:spLocks noGrp="1"/>
          </p:cNvSpPr>
          <p:nvPr>
            <p:ph type="sldNum" sz="quarter" idx="16"/>
          </p:nvPr>
        </p:nvSpPr>
        <p:spPr/>
        <p:txBody>
          <a:bodyPr/>
          <a:lstStyle/>
          <a:p>
            <a:pPr>
              <a:defRPr/>
            </a:pPr>
            <a:fld id="{4CD333A3-7515-47B8-9EDC-EE0892D9C861}" type="slidenum">
              <a:rPr lang="en-US" smtClean="0"/>
              <a:pPr>
                <a:defRPr/>
              </a:pPr>
              <a:t>20</a:t>
            </a:fld>
            <a:endParaRPr lang="en-US"/>
          </a:p>
        </p:txBody>
      </p:sp>
    </p:spTree>
    <p:extLst>
      <p:ext uri="{BB962C8B-B14F-4D97-AF65-F5344CB8AC3E}">
        <p14:creationId xmlns:p14="http://schemas.microsoft.com/office/powerpoint/2010/main" val="36762176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31E39-E2CC-0023-7C15-74F2A48B0247}"/>
              </a:ext>
            </a:extLst>
          </p:cNvPr>
          <p:cNvSpPr>
            <a:spLocks noGrp="1"/>
          </p:cNvSpPr>
          <p:nvPr>
            <p:ph type="title"/>
          </p:nvPr>
        </p:nvSpPr>
        <p:spPr/>
        <p:txBody>
          <a:bodyPr/>
          <a:lstStyle/>
          <a:p>
            <a:r>
              <a:rPr lang="en-US" dirty="0"/>
              <a:t>RAG System Performance Analysis</a:t>
            </a:r>
          </a:p>
        </p:txBody>
      </p:sp>
      <p:pic>
        <p:nvPicPr>
          <p:cNvPr id="6" name="Content Placeholder 5">
            <a:extLst>
              <a:ext uri="{FF2B5EF4-FFF2-40B4-BE49-F238E27FC236}">
                <a16:creationId xmlns:a16="http://schemas.microsoft.com/office/drawing/2014/main" id="{2520E31F-3324-2F8C-20FF-F05F9A931DF6}"/>
              </a:ext>
            </a:extLst>
          </p:cNvPr>
          <p:cNvPicPr>
            <a:picLocks noGrp="1" noChangeAspect="1"/>
          </p:cNvPicPr>
          <p:nvPr>
            <p:ph sz="quarter" idx="13"/>
          </p:nvPr>
        </p:nvPicPr>
        <p:blipFill>
          <a:blip r:embed="rId2" cstate="print">
            <a:extLst>
              <a:ext uri="{28A0092B-C50C-407E-A947-70E740481C1C}">
                <a14:useLocalDpi xmlns:a14="http://schemas.microsoft.com/office/drawing/2010/main" val="0"/>
              </a:ext>
            </a:extLst>
          </a:blip>
          <a:stretch>
            <a:fillRect/>
          </a:stretch>
        </p:blipFill>
        <p:spPr>
          <a:xfrm>
            <a:off x="2895600" y="1219200"/>
            <a:ext cx="6705600" cy="4977889"/>
          </a:xfrm>
        </p:spPr>
      </p:pic>
      <p:sp>
        <p:nvSpPr>
          <p:cNvPr id="4" name="Slide Number Placeholder 3">
            <a:extLst>
              <a:ext uri="{FF2B5EF4-FFF2-40B4-BE49-F238E27FC236}">
                <a16:creationId xmlns:a16="http://schemas.microsoft.com/office/drawing/2014/main" id="{381CC7DC-ABA9-C9BC-5760-A4A4F00D78C4}"/>
              </a:ext>
            </a:extLst>
          </p:cNvPr>
          <p:cNvSpPr>
            <a:spLocks noGrp="1"/>
          </p:cNvSpPr>
          <p:nvPr>
            <p:ph type="sldNum" sz="quarter" idx="16"/>
          </p:nvPr>
        </p:nvSpPr>
        <p:spPr/>
        <p:txBody>
          <a:bodyPr/>
          <a:lstStyle/>
          <a:p>
            <a:pPr>
              <a:defRPr/>
            </a:pPr>
            <a:fld id="{4CD333A3-7515-47B8-9EDC-EE0892D9C861}" type="slidenum">
              <a:rPr lang="en-US" smtClean="0"/>
              <a:pPr>
                <a:defRPr/>
              </a:pPr>
              <a:t>21</a:t>
            </a:fld>
            <a:endParaRPr lang="en-US"/>
          </a:p>
        </p:txBody>
      </p:sp>
    </p:spTree>
    <p:extLst>
      <p:ext uri="{BB962C8B-B14F-4D97-AF65-F5344CB8AC3E}">
        <p14:creationId xmlns:p14="http://schemas.microsoft.com/office/powerpoint/2010/main" val="28916302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3836A-3819-DE3B-7B70-364EBAF27C47}"/>
              </a:ext>
            </a:extLst>
          </p:cNvPr>
          <p:cNvSpPr>
            <a:spLocks noGrp="1"/>
          </p:cNvSpPr>
          <p:nvPr>
            <p:ph type="title"/>
          </p:nvPr>
        </p:nvSpPr>
        <p:spPr/>
        <p:txBody>
          <a:bodyPr/>
          <a:lstStyle/>
          <a:p>
            <a:r>
              <a:rPr lang="en-US" dirty="0"/>
              <a:t>Main user interface design</a:t>
            </a:r>
          </a:p>
        </p:txBody>
      </p:sp>
      <p:sp>
        <p:nvSpPr>
          <p:cNvPr id="4" name="Slide Number Placeholder 3">
            <a:extLst>
              <a:ext uri="{FF2B5EF4-FFF2-40B4-BE49-F238E27FC236}">
                <a16:creationId xmlns:a16="http://schemas.microsoft.com/office/drawing/2014/main" id="{0255FE4D-944E-840F-1946-7E4775409C54}"/>
              </a:ext>
            </a:extLst>
          </p:cNvPr>
          <p:cNvSpPr>
            <a:spLocks noGrp="1"/>
          </p:cNvSpPr>
          <p:nvPr>
            <p:ph type="sldNum" sz="quarter" idx="16"/>
          </p:nvPr>
        </p:nvSpPr>
        <p:spPr/>
        <p:txBody>
          <a:bodyPr/>
          <a:lstStyle/>
          <a:p>
            <a:pPr>
              <a:defRPr/>
            </a:pPr>
            <a:fld id="{4CD333A3-7515-47B8-9EDC-EE0892D9C861}" type="slidenum">
              <a:rPr lang="en-US" smtClean="0"/>
              <a:pPr>
                <a:defRPr/>
              </a:pPr>
              <a:t>22</a:t>
            </a:fld>
            <a:endParaRPr lang="en-US"/>
          </a:p>
        </p:txBody>
      </p:sp>
      <p:pic>
        <p:nvPicPr>
          <p:cNvPr id="8194" name="Picture 2">
            <a:extLst>
              <a:ext uri="{FF2B5EF4-FFF2-40B4-BE49-F238E27FC236}">
                <a16:creationId xmlns:a16="http://schemas.microsoft.com/office/drawing/2014/main" id="{57B16490-6CD1-E74C-7B67-513C650ECC19}"/>
              </a:ext>
            </a:extLst>
          </p:cNvPr>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1394913" y="1439940"/>
            <a:ext cx="9402174" cy="464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25587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A2A34-910C-52FB-12A8-FA252DB358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BF819-FC53-5253-B9E2-DE1A0CDFA8C9}"/>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Novelty of the Work</a:t>
            </a:r>
          </a:p>
        </p:txBody>
      </p:sp>
      <p:sp>
        <p:nvSpPr>
          <p:cNvPr id="3" name="Content Placeholder 2">
            <a:extLst>
              <a:ext uri="{FF2B5EF4-FFF2-40B4-BE49-F238E27FC236}">
                <a16:creationId xmlns:a16="http://schemas.microsoft.com/office/drawing/2014/main" id="{DE257007-BE43-8114-9B32-F2E48E856E19}"/>
              </a:ext>
            </a:extLst>
          </p:cNvPr>
          <p:cNvSpPr>
            <a:spLocks noGrp="1"/>
          </p:cNvSpPr>
          <p:nvPr>
            <p:ph sz="quarter" idx="13"/>
          </p:nvPr>
        </p:nvSpPr>
        <p:spPr/>
        <p:txBody>
          <a:bodyPr>
            <a:normAutofit/>
          </a:bodyPr>
          <a:lstStyle/>
          <a:p>
            <a:pPr>
              <a:spcAft>
                <a:spcPts val="1200"/>
              </a:spcAft>
              <a:buFont typeface="Wingdings" panose="05000000000000000000" pitchFamily="2" charset="2"/>
              <a:buChar char="Ø"/>
            </a:pPr>
            <a:r>
              <a:rPr lang="en-US" sz="2000" i="0" dirty="0">
                <a:solidFill>
                  <a:schemeClr val="tx2"/>
                </a:solidFill>
                <a:effectLst/>
                <a:latin typeface="Helvetica Neue"/>
              </a:rPr>
              <a:t>First Deep Integration of Classical ML Ensemble + RAG</a:t>
            </a:r>
          </a:p>
          <a:p>
            <a:pPr>
              <a:spcAft>
                <a:spcPts val="1200"/>
              </a:spcAft>
              <a:buFont typeface="Wingdings" panose="05000000000000000000" pitchFamily="2" charset="2"/>
              <a:buChar char="Ø"/>
            </a:pPr>
            <a:r>
              <a:rPr lang="en-US" sz="2000" i="0" dirty="0">
                <a:solidFill>
                  <a:schemeClr val="tx2"/>
                </a:solidFill>
                <a:effectLst/>
                <a:latin typeface="Helvetica Neue"/>
              </a:rPr>
              <a:t>Medical-Specific Feature Engineering Pipeline</a:t>
            </a:r>
          </a:p>
          <a:p>
            <a:pPr>
              <a:spcAft>
                <a:spcPts val="1200"/>
              </a:spcAft>
              <a:buFont typeface="Wingdings" panose="05000000000000000000" pitchFamily="2" charset="2"/>
              <a:buChar char="Ø"/>
            </a:pPr>
            <a:r>
              <a:rPr lang="en-US" sz="2000" i="0" dirty="0">
                <a:solidFill>
                  <a:schemeClr val="tx2"/>
                </a:solidFill>
                <a:effectLst/>
                <a:latin typeface="Helvetica Neue"/>
              </a:rPr>
              <a:t>Confidence-Aware Intelligent Routing</a:t>
            </a:r>
          </a:p>
          <a:p>
            <a:pPr>
              <a:spcAft>
                <a:spcPts val="1200"/>
              </a:spcAft>
              <a:buFont typeface="Wingdings" panose="05000000000000000000" pitchFamily="2" charset="2"/>
              <a:buChar char="Ø"/>
            </a:pPr>
            <a:r>
              <a:rPr lang="en-US" sz="2000" i="0" dirty="0">
                <a:solidFill>
                  <a:schemeClr val="tx2"/>
                </a:solidFill>
                <a:effectLst/>
                <a:latin typeface="Helvetica Neue"/>
              </a:rPr>
              <a:t>Medical Safety Prompt Engineering Framework</a:t>
            </a:r>
          </a:p>
          <a:p>
            <a:pPr algn="r"/>
            <a:endParaRPr lang="en-US" sz="3000" dirty="0">
              <a:solidFill>
                <a:schemeClr val="tx1"/>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1E154D71-E901-049B-93F8-CAD5BC299B06}"/>
              </a:ext>
            </a:extLst>
          </p:cNvPr>
          <p:cNvSpPr>
            <a:spLocks noGrp="1"/>
          </p:cNvSpPr>
          <p:nvPr>
            <p:ph type="sldNum" sz="quarter" idx="16"/>
          </p:nvPr>
        </p:nvSpPr>
        <p:spPr/>
        <p:txBody>
          <a:bodyPr/>
          <a:lstStyle/>
          <a:p>
            <a:pPr>
              <a:defRPr/>
            </a:pPr>
            <a:fld id="{4CD333A3-7515-47B8-9EDC-EE0892D9C861}" type="slidenum">
              <a:rPr lang="en-US" smtClean="0"/>
              <a:pPr>
                <a:defRPr/>
              </a:pPr>
              <a:t>23</a:t>
            </a:fld>
            <a:endParaRPr lang="en-US" dirty="0"/>
          </a:p>
        </p:txBody>
      </p:sp>
    </p:spTree>
    <p:extLst>
      <p:ext uri="{BB962C8B-B14F-4D97-AF65-F5344CB8AC3E}">
        <p14:creationId xmlns:p14="http://schemas.microsoft.com/office/powerpoint/2010/main" val="9202743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Conclusion</a:t>
            </a:r>
            <a:endParaRPr lang="en-US" dirty="0">
              <a:solidFill>
                <a:srgbClr val="7030A0"/>
              </a:solidFill>
            </a:endParaRPr>
          </a:p>
        </p:txBody>
      </p:sp>
      <p:sp>
        <p:nvSpPr>
          <p:cNvPr id="3" name="Content Placeholder 2"/>
          <p:cNvSpPr>
            <a:spLocks noGrp="1"/>
          </p:cNvSpPr>
          <p:nvPr>
            <p:ph sz="quarter" idx="13"/>
          </p:nvPr>
        </p:nvSpPr>
        <p:spPr>
          <a:xfrm>
            <a:off x="533400" y="1676400"/>
            <a:ext cx="11049000" cy="3962400"/>
          </a:xfrm>
        </p:spPr>
        <p:txBody>
          <a:bodyPr>
            <a:normAutofit/>
          </a:bodyPr>
          <a:lstStyle/>
          <a:p>
            <a:pPr marL="0" indent="0" algn="just">
              <a:buNone/>
            </a:pPr>
            <a:r>
              <a:rPr lang="en-US" sz="2200" dirty="0">
                <a:solidFill>
                  <a:schemeClr val="tx2"/>
                </a:solidFill>
                <a:latin typeface="Times New Roman" pitchFamily="18" charset="0"/>
                <a:cs typeface="Times New Roman" pitchFamily="18" charset="0"/>
              </a:rPr>
              <a:t>This hybrid medical chatbot successfully integrates classical ML with RAG technology, achieving 96.00% cross-validation accuracy with exceptional stability (±0.20% std dev). The system demonstrates 63.2% improvement over traditional chatbots in comparative analysis with sub-500ms response times supporting 1,000+ concurrent users. While the ML component showed strong performance across 24 conditions, the RAG system would benefit from real physician validation in clinical settings. Future expansion targets multilingual support, actual clinical validation studies, and broader disease coverage to enable real-world deployment.</a:t>
            </a: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24</a:t>
            </a:fld>
            <a:endParaRPr lang="en-US" dirty="0"/>
          </a:p>
        </p:txBody>
      </p:sp>
    </p:spTree>
    <p:extLst>
      <p:ext uri="{BB962C8B-B14F-4D97-AF65-F5344CB8AC3E}">
        <p14:creationId xmlns:p14="http://schemas.microsoft.com/office/powerpoint/2010/main" val="28737059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BAAE9-3B4C-FCEC-50FC-12FB4062A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01CA16-AE0D-D369-FE42-59C7313CB16E}"/>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References</a:t>
            </a:r>
            <a:endParaRPr lang="en-US" dirty="0">
              <a:solidFill>
                <a:srgbClr val="7030A0"/>
              </a:solidFill>
            </a:endParaRPr>
          </a:p>
        </p:txBody>
      </p:sp>
      <p:sp>
        <p:nvSpPr>
          <p:cNvPr id="3" name="Content Placeholder 2">
            <a:extLst>
              <a:ext uri="{FF2B5EF4-FFF2-40B4-BE49-F238E27FC236}">
                <a16:creationId xmlns:a16="http://schemas.microsoft.com/office/drawing/2014/main" id="{7540A3B3-C4C8-D937-C000-D8A95AA34084}"/>
              </a:ext>
            </a:extLst>
          </p:cNvPr>
          <p:cNvSpPr>
            <a:spLocks noGrp="1"/>
          </p:cNvSpPr>
          <p:nvPr>
            <p:ph sz="quarter" idx="13"/>
          </p:nvPr>
        </p:nvSpPr>
        <p:spPr>
          <a:xfrm>
            <a:off x="533400" y="1371600"/>
            <a:ext cx="11049000" cy="4724400"/>
          </a:xfrm>
        </p:spPr>
        <p:txBody>
          <a:bodyPr>
            <a:normAutofit fontScale="47500" lnSpcReduction="20000"/>
          </a:bodyPr>
          <a:lstStyle/>
          <a:p>
            <a:pPr marL="514350" indent="-514350" fontAlgn="base">
              <a:buFont typeface="+mj-lt"/>
              <a:buAutoNum type="arabicPeriod"/>
            </a:pPr>
            <a:r>
              <a:rPr lang="en-US" i="1" dirty="0"/>
              <a:t>S. Zhang and J. Song, “A chatbot based question and answer system for the auxiliary diagnosis of chronic diseases based on large language model,” Scientific Reports, vol. 14, no. 17118, 2024. </a:t>
            </a:r>
            <a:r>
              <a:rPr lang="en-US" i="1" dirty="0" err="1"/>
              <a:t>doi</a:t>
            </a:r>
            <a:r>
              <a:rPr lang="en-US" i="1" dirty="0"/>
              <a:t>: </a:t>
            </a:r>
            <a:r>
              <a:rPr lang="en-US" i="1" u="sng" dirty="0">
                <a:hlinkClick r:id="rId2"/>
              </a:rPr>
              <a:t>https://doi.org/10.1038/s41598-024-17118</a:t>
            </a:r>
            <a:endParaRPr lang="en-US" dirty="0"/>
          </a:p>
          <a:p>
            <a:pPr marL="514350" indent="-514350" fontAlgn="base">
              <a:buFont typeface="+mj-lt"/>
              <a:buAutoNum type="arabicPeriod"/>
            </a:pPr>
            <a:r>
              <a:rPr lang="en-US" i="1" dirty="0"/>
              <a:t>J. N. K. Wah et al., “The transformative role of AI-powered hybrid chatbots in healthcare,” PMC Articles, PMC11865260, 2025. Available: </a:t>
            </a:r>
            <a:r>
              <a:rPr lang="en-US" i="1" u="sng" dirty="0">
                <a:hlinkClick r:id="rId3"/>
              </a:rPr>
              <a:t>https://www.ncbi.nlm.nih.gov/pmc/articles/PMC11865260</a:t>
            </a:r>
            <a:endParaRPr lang="en-US" dirty="0"/>
          </a:p>
          <a:p>
            <a:pPr marL="514350" indent="-514350" fontAlgn="base">
              <a:buFont typeface="+mj-lt"/>
              <a:buAutoNum type="arabicPeriod"/>
            </a:pPr>
            <a:r>
              <a:rPr lang="en-US" i="1" dirty="0"/>
              <a:t>Y. Chen et al., “MRD-RAG: Enhancing medical diagnosis with multi-round retrieval-augmented generation,” </a:t>
            </a:r>
            <a:r>
              <a:rPr lang="en-US" i="1" dirty="0" err="1"/>
              <a:t>arXiv</a:t>
            </a:r>
            <a:r>
              <a:rPr lang="en-US" i="1" dirty="0"/>
              <a:t> preprint, arXiv:2504.07724v1, 2024. Available: </a:t>
            </a:r>
            <a:r>
              <a:rPr lang="en-US" i="1" u="sng" dirty="0">
                <a:hlinkClick r:id="rId4"/>
              </a:rPr>
              <a:t>https://arxiv.org/abs/2504.07724</a:t>
            </a:r>
            <a:endParaRPr lang="en-US" dirty="0"/>
          </a:p>
          <a:p>
            <a:pPr marL="514350" indent="-514350" fontAlgn="base">
              <a:buFont typeface="+mj-lt"/>
              <a:buAutoNum type="arabicPeriod"/>
            </a:pPr>
            <a:r>
              <a:rPr lang="en-US" i="1" dirty="0"/>
              <a:t>P. Mahajan et al., “Ensemble learning for disease prediction: A review,” PMC Articles, PMC10298658, 2023. Available: </a:t>
            </a:r>
            <a:r>
              <a:rPr lang="en-US" i="1" u="sng" dirty="0">
                <a:hlinkClick r:id="rId5"/>
              </a:rPr>
              <a:t>https://www.ncbi.nlm.nih.gov/pmc/articles/PMC10298658</a:t>
            </a:r>
            <a:endParaRPr lang="en-US" dirty="0"/>
          </a:p>
          <a:p>
            <a:pPr marL="514350" indent="-514350" fontAlgn="base">
              <a:buFont typeface="+mj-lt"/>
              <a:buAutoNum type="arabicPeriod"/>
            </a:pPr>
            <a:r>
              <a:rPr lang="en-US" i="1" dirty="0"/>
              <a:t>E. T. Johnson et al., “Retrieval-augmented generation for generative artificial intelligence in medicine,” Nature Digital Medicine, vol. 44401-024-00004-1, 2025. </a:t>
            </a:r>
            <a:r>
              <a:rPr lang="en-US" i="1" dirty="0" err="1"/>
              <a:t>doi</a:t>
            </a:r>
            <a:r>
              <a:rPr lang="en-US" i="1" dirty="0"/>
              <a:t>: </a:t>
            </a:r>
            <a:r>
              <a:rPr lang="en-US" i="1" u="sng" dirty="0">
                <a:hlinkClick r:id="rId6"/>
              </a:rPr>
              <a:t>https://doi.org/10.1038/s41746-025-00445-x</a:t>
            </a:r>
            <a:endParaRPr lang="en-US" dirty="0"/>
          </a:p>
          <a:p>
            <a:pPr marL="514350" indent="-514350" fontAlgn="base">
              <a:buFont typeface="+mj-lt"/>
              <a:buAutoNum type="arabicPeriod"/>
            </a:pPr>
            <a:r>
              <a:rPr lang="en-US" i="1" dirty="0"/>
              <a:t>R. Yang et al., “Retrieval augmented medical diagnosis system,” PMC Articles, PMC11897588, 2025. Available: </a:t>
            </a:r>
            <a:r>
              <a:rPr lang="en-US" i="1" u="sng" dirty="0">
                <a:hlinkClick r:id="rId7"/>
              </a:rPr>
              <a:t>https://www.ncbi.nlm.nih.gov/pmc/articles/PMC11897588</a:t>
            </a:r>
            <a:endParaRPr lang="en-US" dirty="0"/>
          </a:p>
          <a:p>
            <a:pPr marL="514350" indent="-514350" fontAlgn="base">
              <a:buFont typeface="+mj-lt"/>
              <a:buAutoNum type="arabicPeriod"/>
            </a:pPr>
            <a:r>
              <a:rPr lang="en-US" i="1" dirty="0"/>
              <a:t>R. Korom et al., "AI-based clinical decision support for primary care: A real-world study," OpenAI Technical Report, 2025.</a:t>
            </a:r>
            <a:endParaRPr lang="en-US" dirty="0"/>
          </a:p>
          <a:p>
            <a:pPr marL="514350" indent="-514350" fontAlgn="base">
              <a:buFont typeface="+mj-lt"/>
              <a:buAutoNum type="arabicPeriod"/>
            </a:pPr>
            <a:r>
              <a:rPr lang="en-US" i="1" dirty="0"/>
              <a:t>M. Abbasian et al., “Foundation metrics for evaluating effectiveness of healthcare chatbots,” Nature Digital Medicine, vol. s41746-024-01074-z, 2024. </a:t>
            </a:r>
            <a:r>
              <a:rPr lang="en-US" i="1" dirty="0" err="1"/>
              <a:t>doi</a:t>
            </a:r>
            <a:r>
              <a:rPr lang="en-US" i="1" dirty="0"/>
              <a:t>: </a:t>
            </a:r>
            <a:r>
              <a:rPr lang="en-US" i="1" u="sng" dirty="0">
                <a:hlinkClick r:id="rId8"/>
              </a:rPr>
              <a:t>https://doi.org/10.1038/s41746-024-01074-z</a:t>
            </a:r>
            <a:endParaRPr lang="en-US" dirty="0"/>
          </a:p>
          <a:p>
            <a:pPr marL="514350" indent="-514350" fontAlgn="base">
              <a:buFont typeface="+mj-lt"/>
              <a:buAutoNum type="arabicPeriod"/>
            </a:pPr>
            <a:r>
              <a:rPr lang="en-US" i="1" dirty="0"/>
              <a:t>S. M. Ganie et al., “Ensemble learning with explainable AI for improved heart disease prediction,” Nature Scientific Reports, vol. s41598-025-97547-6, 2025. </a:t>
            </a:r>
            <a:r>
              <a:rPr lang="en-US" i="1" dirty="0" err="1"/>
              <a:t>doi</a:t>
            </a:r>
            <a:r>
              <a:rPr lang="en-US" i="1" dirty="0"/>
              <a:t>: </a:t>
            </a:r>
            <a:r>
              <a:rPr lang="en-US" i="1" u="sng" dirty="0">
                <a:hlinkClick r:id="rId9"/>
              </a:rPr>
              <a:t>https://doi.org/10.1038/s41598-025-97547-6</a:t>
            </a:r>
            <a:endParaRPr lang="en-US" dirty="0"/>
          </a:p>
          <a:p>
            <a:pPr marL="514350" indent="-514350" fontAlgn="base">
              <a:buFont typeface="+mj-lt"/>
              <a:buAutoNum type="arabicPeriod"/>
            </a:pPr>
            <a:r>
              <a:rPr lang="en-US" i="1" dirty="0"/>
              <a:t>B. A. </a:t>
            </a:r>
            <a:r>
              <a:rPr lang="en-US" i="1" dirty="0" err="1"/>
              <a:t>Damoiseaux</a:t>
            </a:r>
            <a:r>
              <a:rPr lang="en-US" i="1" dirty="0"/>
              <a:t>-Volman et al., “Clinical validation of clinical decision support systems for medication review,” PMC Articles, PMC9299995, 2021. Available: </a:t>
            </a:r>
            <a:r>
              <a:rPr lang="en-US" i="1" u="sng" dirty="0">
                <a:hlinkClick r:id="rId10"/>
              </a:rPr>
              <a:t>https://www.ncbi.nlm.nih.gov/pmc/articles/PMC9299995</a:t>
            </a:r>
            <a:endParaRPr lang="en-US" dirty="0"/>
          </a:p>
          <a:p>
            <a:pPr marL="0" indent="0">
              <a:buNone/>
            </a:pPr>
            <a:endParaRPr lang="en-US" sz="2200" dirty="0">
              <a:solidFill>
                <a:schemeClr val="tx1"/>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F97097F1-FADA-324C-E90E-73FFCAEF9034}"/>
              </a:ext>
            </a:extLst>
          </p:cNvPr>
          <p:cNvSpPr>
            <a:spLocks noGrp="1"/>
          </p:cNvSpPr>
          <p:nvPr>
            <p:ph type="sldNum" sz="quarter" idx="16"/>
          </p:nvPr>
        </p:nvSpPr>
        <p:spPr/>
        <p:txBody>
          <a:bodyPr/>
          <a:lstStyle/>
          <a:p>
            <a:pPr>
              <a:defRPr/>
            </a:pPr>
            <a:fld id="{4CD333A3-7515-47B8-9EDC-EE0892D9C861}" type="slidenum">
              <a:rPr lang="en-US" smtClean="0"/>
              <a:pPr>
                <a:defRPr/>
              </a:pPr>
              <a:t>25</a:t>
            </a:fld>
            <a:endParaRPr lang="en-US" dirty="0"/>
          </a:p>
        </p:txBody>
      </p:sp>
    </p:spTree>
    <p:extLst>
      <p:ext uri="{BB962C8B-B14F-4D97-AF65-F5344CB8AC3E}">
        <p14:creationId xmlns:p14="http://schemas.microsoft.com/office/powerpoint/2010/main" val="19054695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p:txBody>
          <a:bodyPr>
            <a:normAutofit/>
          </a:bodyPr>
          <a:lstStyle/>
          <a:p>
            <a:pPr marL="0" indent="0" algn="ctr">
              <a:buNone/>
            </a:pPr>
            <a:endParaRPr lang="en-US" sz="6000" b="1" dirty="0">
              <a:solidFill>
                <a:srgbClr val="7030A0"/>
              </a:solidFill>
              <a:latin typeface="Times New Roman" pitchFamily="18" charset="0"/>
              <a:cs typeface="Times New Roman" pitchFamily="18" charset="0"/>
            </a:endParaRPr>
          </a:p>
          <a:p>
            <a:pPr marL="0" indent="0" algn="ctr">
              <a:buNone/>
            </a:pPr>
            <a:r>
              <a:rPr lang="en-US" sz="6000" b="1" dirty="0">
                <a:solidFill>
                  <a:srgbClr val="7030A0"/>
                </a:solidFill>
                <a:latin typeface="Times New Roman" pitchFamily="18" charset="0"/>
                <a:cs typeface="Times New Roman" pitchFamily="18" charset="0"/>
              </a:rPr>
              <a:t>THANK YOU</a:t>
            </a:r>
          </a:p>
          <a:p>
            <a:pPr marL="0" indent="0" algn="r">
              <a:buNone/>
            </a:pPr>
            <a:endParaRPr lang="en-US" sz="3000"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26</a:t>
            </a:fld>
            <a:endParaRPr lang="en-US" dirty="0"/>
          </a:p>
        </p:txBody>
      </p:sp>
    </p:spTree>
    <p:extLst>
      <p:ext uri="{BB962C8B-B14F-4D97-AF65-F5344CB8AC3E}">
        <p14:creationId xmlns:p14="http://schemas.microsoft.com/office/powerpoint/2010/main" val="2459516608"/>
      </p:ext>
    </p:extLst>
  </p:cSld>
  <p:clrMapOvr>
    <a:masterClrMapping/>
  </p:clrMapOvr>
</p:sld>
</file>

<file path=ppt/theme/theme1.xml><?xml version="1.0" encoding="utf-8"?>
<a:theme xmlns:a="http://schemas.openxmlformats.org/drawingml/2006/main" name="New Microsoft PowerPoint Presentati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 Microsoft PowerPoint Presentation</Template>
  <TotalTime>1494</TotalTime>
  <Words>1471</Words>
  <Application>Microsoft Office PowerPoint</Application>
  <PresentationFormat>Widescreen</PresentationFormat>
  <Paragraphs>362</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Century</vt:lpstr>
      <vt:lpstr>Helvetica Neue</vt:lpstr>
      <vt:lpstr>Times New Roman</vt:lpstr>
      <vt:lpstr>Wingdings</vt:lpstr>
      <vt:lpstr>New Microsoft PowerPoint Presentation</vt:lpstr>
      <vt:lpstr>A Hybrid NLP-Based Chatbot for Medical symptom Analysis and knowledge Retrieval Using Labeled Datasets and Encyclopedic Resources.</vt:lpstr>
      <vt:lpstr>Outline</vt:lpstr>
      <vt:lpstr>Introduction</vt:lpstr>
      <vt:lpstr>Objective</vt:lpstr>
      <vt:lpstr>Background Study</vt:lpstr>
      <vt:lpstr>Gap Analysis</vt:lpstr>
      <vt:lpstr>Gap Analysis Continued</vt:lpstr>
      <vt:lpstr>Methodology</vt:lpstr>
      <vt:lpstr>Data Flow Diagram</vt:lpstr>
      <vt:lpstr>Dataset Information</vt:lpstr>
      <vt:lpstr>Data Preprocessing </vt:lpstr>
      <vt:lpstr>Result and Analysis</vt:lpstr>
      <vt:lpstr>Confusion Matrix</vt:lpstr>
      <vt:lpstr>Roc Curves</vt:lpstr>
      <vt:lpstr>Training Vs Validation Accuracy Curves</vt:lpstr>
      <vt:lpstr>Model Performance Comparison</vt:lpstr>
      <vt:lpstr>Cross Validation</vt:lpstr>
      <vt:lpstr>Cross Validation</vt:lpstr>
      <vt:lpstr>Rag Data Processing</vt:lpstr>
      <vt:lpstr>RAG Context Relevance and Retrieval Quality Analysis</vt:lpstr>
      <vt:lpstr>RAG System Performance Analysis</vt:lpstr>
      <vt:lpstr>Main user interface design</vt:lpstr>
      <vt:lpstr>Novelty of the Work</vt:lpstr>
      <vt:lpstr>Conclusion</vt:lpstr>
      <vt:lpstr>References</vt:lpstr>
      <vt:lpstr>PowerPoint Presentation</vt:lpstr>
    </vt:vector>
  </TitlesOfParts>
  <Company>Acer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Valued Acer Customer</dc:creator>
  <cp:lastModifiedBy>Mehedi Hasan</cp:lastModifiedBy>
  <cp:revision>263</cp:revision>
  <dcterms:created xsi:type="dcterms:W3CDTF">2011-07-17T02:56:35Z</dcterms:created>
  <dcterms:modified xsi:type="dcterms:W3CDTF">2025-12-09T02:20:19Z</dcterms:modified>
</cp:coreProperties>
</file>